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cfccf058724d9c" /><Relationship Type="http://schemas.openxmlformats.org/officeDocument/2006/relationships/extended-properties" Target="/docProps/app.xml" Id="Rb796521c109640fa" /><Relationship Type="http://schemas.openxmlformats.org/officeDocument/2006/relationships/officeDocument" Target="/ppt/presentation.xml" Id="R17b26d5755b744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838a59056d4cb9"/>
  </p:sldMasterIdLst>
  <p:notesMasterIdLst>
    <p:notesMasterId xmlns:r="http://schemas.openxmlformats.org/officeDocument/2006/relationships" r:id="Re062257701324c8c"/>
  </p:notesMasterIdLst>
  <p:sldIdLst>
    <p:sldId xmlns:r="http://schemas.openxmlformats.org/officeDocument/2006/relationships" id="256" r:id="Rc2ad610e75a14f0f"/>
    <p:sldId xmlns:r="http://schemas.openxmlformats.org/officeDocument/2006/relationships" id="257" r:id="R77c374e6c6514f98"/>
    <p:sldId xmlns:r="http://schemas.openxmlformats.org/officeDocument/2006/relationships" id="258" r:id="R516e18db8e914ea2"/>
    <p:sldId xmlns:r="http://schemas.openxmlformats.org/officeDocument/2006/relationships" id="259" r:id="Rbb588d04c9284e7d"/>
    <p:sldId xmlns:r="http://schemas.openxmlformats.org/officeDocument/2006/relationships" id="260" r:id="R3cb18568278e4db2"/>
    <p:sldId xmlns:r="http://schemas.openxmlformats.org/officeDocument/2006/relationships" id="261" r:id="R584ba97dbddc4386"/>
    <p:sldId xmlns:r="http://schemas.openxmlformats.org/officeDocument/2006/relationships" id="262" r:id="Rc7b997fbfabc4a85"/>
    <p:sldId xmlns:r="http://schemas.openxmlformats.org/officeDocument/2006/relationships" id="263" r:id="R1b17e0d94e4b4d6d"/>
    <p:sldId xmlns:r="http://schemas.openxmlformats.org/officeDocument/2006/relationships" id="264" r:id="Reffbe10f0bb04313"/>
    <p:sldId xmlns:r="http://schemas.openxmlformats.org/officeDocument/2006/relationships" id="265" r:id="Rab08b298eb7f4b4d"/>
    <p:sldId xmlns:r="http://schemas.openxmlformats.org/officeDocument/2006/relationships" id="266" r:id="Ra20e0b4c4bda45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c938982e704278" /><Relationship Type="http://schemas.openxmlformats.org/officeDocument/2006/relationships/slideMaster" Target="/ppt/slideMasters/slideMaster1.xml" Id="R1d838a59056d4cb9" /><Relationship Type="http://schemas.openxmlformats.org/officeDocument/2006/relationships/notesMaster" Target="/ppt/notesMasters/notesMaster1.xml" Id="Re062257701324c8c" /><Relationship Type="http://schemas.openxmlformats.org/officeDocument/2006/relationships/presProps" Target="/ppt/presProps.xml" Id="Re1d1926e7a5b4fa2" /><Relationship Type="http://schemas.openxmlformats.org/officeDocument/2006/relationships/tableStyles" Target="/ppt/tableStyles.xml" Id="R3879607ce59f4c64" /><Relationship Type="http://schemas.openxmlformats.org/officeDocument/2006/relationships/slide" Target="/ppt/slides/slide1.xml" Id="Rc2ad610e75a14f0f" /><Relationship Type="http://schemas.openxmlformats.org/officeDocument/2006/relationships/slide" Target="/ppt/slides/slide2.xml" Id="R77c374e6c6514f98" /><Relationship Type="http://schemas.openxmlformats.org/officeDocument/2006/relationships/slide" Target="/ppt/slides/slide3.xml" Id="R516e18db8e914ea2" /><Relationship Type="http://schemas.openxmlformats.org/officeDocument/2006/relationships/slide" Target="/ppt/slides/slide4.xml" Id="Rbb588d04c9284e7d" /><Relationship Type="http://schemas.openxmlformats.org/officeDocument/2006/relationships/slide" Target="/ppt/slides/slide5.xml" Id="R3cb18568278e4db2" /><Relationship Type="http://schemas.openxmlformats.org/officeDocument/2006/relationships/slide" Target="/ppt/slides/slide6.xml" Id="R584ba97dbddc4386" /><Relationship Type="http://schemas.openxmlformats.org/officeDocument/2006/relationships/slide" Target="/ppt/slides/slide7.xml" Id="Rc7b997fbfabc4a85" /><Relationship Type="http://schemas.openxmlformats.org/officeDocument/2006/relationships/slide" Target="/ppt/slides/slide8.xml" Id="R1b17e0d94e4b4d6d" /><Relationship Type="http://schemas.openxmlformats.org/officeDocument/2006/relationships/slide" Target="/ppt/slides/slide9.xml" Id="Reffbe10f0bb04313" /><Relationship Type="http://schemas.openxmlformats.org/officeDocument/2006/relationships/slide" Target="/ppt/slides/slide10.xml" Id="Rab08b298eb7f4b4d" /><Relationship Type="http://schemas.openxmlformats.org/officeDocument/2006/relationships/slide" Target="/ppt/slides/slide11.xml" Id="Ra20e0b4c4bda45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115704313e48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ea1ae7cb4f4699" /><Relationship Type="http://schemas.openxmlformats.org/officeDocument/2006/relationships/notesMaster" Target="/ppt/notesMasters/notesMaster1.xml" Id="Rbaf193248ce34b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35a422b6384f9c" /><Relationship Type="http://schemas.openxmlformats.org/officeDocument/2006/relationships/notesMaster" Target="/ppt/notesMasters/notesMaster1.xml" Id="Rc35ae9c1c2df48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6180eb96d347cd" /><Relationship Type="http://schemas.openxmlformats.org/officeDocument/2006/relationships/notesMaster" Target="/ppt/notesMasters/notesMaster1.xml" Id="R64e69c364ea64c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8993114d324411" /><Relationship Type="http://schemas.openxmlformats.org/officeDocument/2006/relationships/notesMaster" Target="/ppt/notesMasters/notesMaster1.xml" Id="R14f8304ff4f340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37adc836cb435d" /><Relationship Type="http://schemas.openxmlformats.org/officeDocument/2006/relationships/notesMaster" Target="/ppt/notesMasters/notesMaster1.xml" Id="R71855c313da342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c9700879d44992" /><Relationship Type="http://schemas.openxmlformats.org/officeDocument/2006/relationships/notesMaster" Target="/ppt/notesMasters/notesMaster1.xml" Id="Rf1b4e421e7b940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70ec1ccb814050" /><Relationship Type="http://schemas.openxmlformats.org/officeDocument/2006/relationships/notesMaster" Target="/ppt/notesMasters/notesMaster1.xml" Id="Rf203d084387c4a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486a77b2c24c8b" /><Relationship Type="http://schemas.openxmlformats.org/officeDocument/2006/relationships/notesMaster" Target="/ppt/notesMasters/notesMaster1.xml" Id="R5d25c955b0d941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2927cceff7483a" /><Relationship Type="http://schemas.openxmlformats.org/officeDocument/2006/relationships/notesMaster" Target="/ppt/notesMasters/notesMaster1.xml" Id="Rf1c1879e1dad42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cb203b29924002" /><Relationship Type="http://schemas.openxmlformats.org/officeDocument/2006/relationships/notesMaster" Target="/ppt/notesMasters/notesMaster1.xml" Id="Rb1baa43b610544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9044934e9c4507" /><Relationship Type="http://schemas.openxmlformats.org/officeDocument/2006/relationships/notesMaster" Target="/ppt/notesMasters/notesMaster1.xml" Id="Rc95ba2e7609040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2cf2d6c4f44b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d84310e30d4499" /><Relationship Type="http://schemas.openxmlformats.org/officeDocument/2006/relationships/slideLayout" Target="/ppt/slideLayouts/slideLayout1.xml" Id="Rdc90df87bb6d4d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90df87bb6d4d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8422b82e04865" /><Relationship Type="http://schemas.openxmlformats.org/officeDocument/2006/relationships/notesSlide" Target="/ppt/notesSlides/notesSlide1.xml" Id="R555b82a8536440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da877e0dc425b" /><Relationship Type="http://schemas.openxmlformats.org/officeDocument/2006/relationships/notesSlide" Target="/ppt/notesSlides/notesSlide2.xml" Id="R65b85bb28b7b41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8ffa1244644f2" /><Relationship Type="http://schemas.openxmlformats.org/officeDocument/2006/relationships/image" Target="/ppt/media/image.png" Id="R23b6a5a398ee423b" /><Relationship Type="http://schemas.openxmlformats.org/officeDocument/2006/relationships/notesSlide" Target="/ppt/notesSlides/notesSlide3.xml" Id="R45826b8c1d2842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7a633c16344cd" /><Relationship Type="http://schemas.openxmlformats.org/officeDocument/2006/relationships/image" Target="/ppt/media/image2.png" Id="Rcb31eceaacaa46ce" /><Relationship Type="http://schemas.openxmlformats.org/officeDocument/2006/relationships/notesSlide" Target="/ppt/notesSlides/notesSlide4.xml" Id="R3b96ec74ffc247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d55ff8d00429d" /><Relationship Type="http://schemas.openxmlformats.org/officeDocument/2006/relationships/notesSlide" Target="/ppt/notesSlides/notesSlide5.xml" Id="R1f7b217497734d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b8a63725843f3" /><Relationship Type="http://schemas.openxmlformats.org/officeDocument/2006/relationships/image" Target="/ppt/media/image3.png" Id="R35ccbe0bf11348f2" /><Relationship Type="http://schemas.openxmlformats.org/officeDocument/2006/relationships/notesSlide" Target="/ppt/notesSlides/notesSlide6.xml" Id="R6cd982f675b943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edaf0cf484998" /><Relationship Type="http://schemas.openxmlformats.org/officeDocument/2006/relationships/notesSlide" Target="/ppt/notesSlides/notesSlide7.xml" Id="R6070f8e309904e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2c4ebe2344f62" /><Relationship Type="http://schemas.openxmlformats.org/officeDocument/2006/relationships/notesSlide" Target="/ppt/notesSlides/notesSlide8.xml" Id="R9958c0bc445440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aea38c50b4f56" /><Relationship Type="http://schemas.openxmlformats.org/officeDocument/2006/relationships/notesSlide" Target="/ppt/notesSlides/notesSlide9.xml" Id="R03647ffe5dad48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49bf0c7f74a66" /><Relationship Type="http://schemas.openxmlformats.org/officeDocument/2006/relationships/notesSlide" Target="/ppt/notesSlides/notesSlide10.xml" Id="R7eb041ac57664c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7456fc776475e" /><Relationship Type="http://schemas.openxmlformats.org/officeDocument/2006/relationships/notesSlide" Target="/ppt/notesSlides/notesSlide11.xml" Id="R2eacd194fcd74c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03BAB-D5F1-4FDB-8321-39FD8AD7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FE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B1C33-32BD-478D-9F54-2731ABB1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904875"/>
            <a:ext cx="2571750" cy="4810125"/>
          </a:xfrm>
          <a:prstGeom xmlns:a="http://schemas.openxmlformats.org/drawingml/2006/main" prst="roundRect">
            <a:avLst>
              <a:gd name="adj" fmla="val 20370"/>
            </a:avLst>
          </a:prstGeom>
          <a:solidFill xmlns:a="http://schemas.openxmlformats.org/drawingml/2006/main">
            <a:srgbClr val="F1D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4B0AC-7455-4F76-A6A0-AEB1728B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F9270"/>
                </a:solidFill>
              </a:defRPr>
            </a:pPr>
            <a:r>
              <a:rPr sz="1275" b="1">
                <a:solidFill>
                  <a:srgbClr val="7F9270"/>
                </a:solidFill>
              </a:rPr>
              <a:t>MARINBOY SALON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79A20-5FD3-4647-A88F-151B7E25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28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53664C"/>
                </a:solidFill>
              </a:defRPr>
            </a:pPr>
            <a:r>
              <a:rPr sz="3750" b="1">
                <a:solidFill>
                  <a:srgbClr val="53664C"/>
                </a:solidFill>
              </a:rPr>
              <a:t>미용실 예약의 전 과정을</a:t>
            </a:r>
          </a:p>
          <a:p xmlns:a="http://schemas.openxmlformats.org/drawingml/2006/main">
            <a:pPr algn="l">
              <a:defRPr sz="3750" b="1">
                <a:solidFill>
                  <a:srgbClr val="53664C"/>
                </a:solidFill>
              </a:defRPr>
            </a:pPr>
            <a:r>
              <a:rPr sz="3750" b="1">
                <a:solidFill>
                  <a:srgbClr val="53664C"/>
                </a:solidFill>
              </a:rPr>
              <a:t>하나의 서비스로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D58FB-1F51-4BC9-AF66-1BA2BA59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786B"/>
                </a:solidFill>
              </a:defRPr>
            </a:pPr>
            <a:r>
              <a:rPr sz="1725" b="0">
                <a:solidFill>
                  <a:srgbClr val="6F786B"/>
                </a:solidFill>
              </a:rPr>
              <a:t>Spring Boot · MyBatis · Oracle 기반</a:t>
            </a:r>
          </a:p>
          <a:p xmlns:a="http://schemas.openxmlformats.org/drawingml/2006/main">
            <a:pPr algn="l">
              <a:defRPr sz="1725" b="0">
                <a:solidFill>
                  <a:srgbClr val="6F786B"/>
                </a:solidFill>
              </a:defRPr>
            </a:pPr>
            <a:r>
              <a:rPr sz="1725" b="0">
                <a:solidFill>
                  <a:srgbClr val="6F786B"/>
                </a:solidFill>
              </a:rPr>
              <a:t>고객 예약 및 관리자 운영 플랫폼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AD5BF-CFBA-4DE3-B24A-B3418FC1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6524"/>
                </a:solidFill>
              </a:defRPr>
            </a:pPr>
            <a:r>
              <a:rPr sz="1125" b="1">
                <a:solidFill>
                  <a:srgbClr val="8F6524"/>
                </a:solidFill>
              </a:rPr>
              <a:t>FULL-STACK PORTFOLIO  |  2026</a:t>
            </a:r>
          </a:p>
        </p:txBody>
      </p:sp>
    </p:spTree>
    <p:extLst>
      <p:ext uri="{BB962C8B-B14F-4D97-AF65-F5344CB8AC3E}">
        <p14:creationId xmlns:p14="http://schemas.microsoft.com/office/powerpoint/2010/main" val="5481800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17236-E6F5-40C3-B2A1-A815F40C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13729-8EC6-4217-B8A7-EFE7D0DC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전화 예약의 불편을 하나의 웹 흐름으로 바꿨습니다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98F51-ECD2-4D8D-B72E-6E50727F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C3268-33C2-4CC5-8F09-EAD00FDC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F2AFE-9B8C-4CDE-861C-7E57479D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3429000" cy="30956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755F8-1CBE-45D7-8FA0-71B71E9B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F9270"/>
                </a:solidFill>
              </a:defRPr>
            </a:pPr>
            <a:r>
              <a:rPr sz="2250" b="1">
                <a:solidFill>
                  <a:srgbClr val="7F927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12D33-C5E6-4C80-B651-7771DA80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3664C"/>
                </a:solidFill>
              </a:defRPr>
            </a:pPr>
            <a:r>
              <a:rPr sz="1950" b="1">
                <a:solidFill>
                  <a:srgbClr val="53664C"/>
                </a:solidFill>
              </a:rPr>
              <a:t>고객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80EEE-05EE-4B3E-8472-D34E8998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2809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86B"/>
                </a:solidFill>
              </a:defRPr>
            </a:pPr>
            <a:r>
              <a:rPr sz="1350" b="0">
                <a:solidFill>
                  <a:srgbClr val="6F786B"/>
                </a:solidFill>
              </a:rPr>
              <a:t>가능 시간 확인과 예약 변경이 번거롭습니다.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E39D1-5BDE-4F8E-B751-A33FA891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57375"/>
            <a:ext cx="3429000" cy="30956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C5F8B-32D5-4A4C-9723-F24F659B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95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F9270"/>
                </a:solidFill>
              </a:defRPr>
            </a:pPr>
            <a:r>
              <a:rPr sz="2250" b="1">
                <a:solidFill>
                  <a:srgbClr val="7F927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CBD4D-2972-4BFE-8FEF-485B925B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3664C"/>
                </a:solidFill>
              </a:defRPr>
            </a:pPr>
            <a:r>
              <a:rPr sz="1950" b="1">
                <a:solidFill>
                  <a:srgbClr val="53664C"/>
                </a:solidFill>
              </a:rPr>
              <a:t>운영자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5DE39-2580-4080-B863-56E2BFC1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71875"/>
            <a:ext cx="2809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86B"/>
                </a:solidFill>
              </a:defRPr>
            </a:pPr>
            <a:r>
              <a:rPr sz="1350" b="0">
                <a:solidFill>
                  <a:srgbClr val="6F786B"/>
                </a:solidFill>
              </a:rPr>
              <a:t>예약·휴무일·메뉴 정보가 흩어져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52B34-E16B-457B-8485-73B391CB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57375"/>
            <a:ext cx="3429000" cy="30956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536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80301-A0F5-41F7-832A-8FC75BCA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FE6D4"/>
                </a:solidFill>
              </a:defRPr>
            </a:pPr>
            <a:r>
              <a:rPr sz="2250" b="1">
                <a:solidFill>
                  <a:srgbClr val="DFE6D4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527C1-DAC9-40C4-8C03-73D00C13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해결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A626E-44D8-4A95-9CE4-77D5BF34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71875"/>
            <a:ext cx="2809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FE1"/>
                </a:solidFill>
              </a:defRPr>
            </a:pPr>
            <a:r>
              <a:rPr sz="1350" b="0">
                <a:solidFill>
                  <a:srgbClr val="E8EFE1"/>
                </a:solidFill>
              </a:rPr>
              <a:t>고객과 관리자가 같은 예약 데이터를 사용합니다.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79A795-71FD-4D3D-8A2F-97EF4CDA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F6524"/>
                </a:solidFill>
              </a:defRPr>
            </a:pPr>
            <a:r>
              <a:rPr sz="1875" b="1">
                <a:solidFill>
                  <a:srgbClr val="8F6524"/>
                </a:solidFill>
              </a:rPr>
              <a:t>예약의 시작부터 운영 관리까지 한 시스템에서 연결</a:t>
            </a:r>
          </a:p>
        </p:txBody>
      </p:sp>
    </p:spTree>
    <p:extLst>
      <p:ext uri="{BB962C8B-B14F-4D97-AF65-F5344CB8AC3E}">
        <p14:creationId xmlns:p14="http://schemas.microsoft.com/office/powerpoint/2010/main" val="1328553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8B9F7-3C1C-412D-B624-A3AE0CFE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03646-C297-49AD-926C-587296DC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메인 화면에서 서비스의 분위기와 예약 동선을 전달합니다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18FB8-06D8-4088-AA9E-06F77CC3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D4058-38D1-49AA-AE68-2771B1F5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11D80-EE50-47A2-8856-90452159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F9270"/>
                </a:solidFill>
              </a:defRPr>
            </a:pPr>
            <a:r>
              <a:rPr sz="1725" b="1">
                <a:solidFill>
                  <a:srgbClr val="7F9270"/>
                </a:solidFill>
              </a:rPr>
              <a:t>CUSTOMER 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22515-F3BC-4367-BEDF-03FB4CDE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3429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브랜드 소개와 핵심 CTA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월간 헤어·네일 추천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시술 메뉴 탐색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예약 가능 현황 확인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6a5a398ee423b"/>
          <a:srcRect xmlns:a="http://schemas.openxmlformats.org/drawingml/2006/main" l="0" t="5294" r="0" b="52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1666875"/>
            <a:ext cx="7286625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34A32-D140-40B2-97B8-9CC97F1C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286500"/>
            <a:ext cx="728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86B"/>
                </a:solidFill>
              </a:defRPr>
            </a:pPr>
            <a:r>
              <a:rPr sz="1050" b="1">
                <a:solidFill>
                  <a:srgbClr val="6F786B"/>
                </a:solidFill>
              </a:rPr>
              <a:t>실제 실행 화면 · 고객 메인</a:t>
            </a:r>
          </a:p>
        </p:txBody>
      </p:sp>
    </p:spTree>
    <p:extLst>
      <p:ext uri="{BB962C8B-B14F-4D97-AF65-F5344CB8AC3E}">
        <p14:creationId xmlns:p14="http://schemas.microsoft.com/office/powerpoint/2010/main" val="129773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BFC89-2F5A-44B4-BEBF-3DC8D244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FD015-15E4-45E0-8887-B78C10BA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고객은 가능한 시간만 선택해 예약합니다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B45DD-D1E2-4945-A716-25E6E551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84EE3-8784-403B-B907-9169C94A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558A0-8B57-408D-85DD-3E143169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F9270"/>
                </a:solidFill>
              </a:defRPr>
            </a:pPr>
            <a:r>
              <a:rPr sz="1725" b="1">
                <a:solidFill>
                  <a:srgbClr val="7F9270"/>
                </a:solidFill>
              </a:rPr>
              <a:t>RESERVATION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62CCD-1D77-4A88-A59F-FC58E8E0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3429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시술과 날짜 선택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예약 가능 시간 표시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고객 정보 자동 입력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노쇼 정책 동의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이전 시술 내역 확인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1eceaacaa46ce"/>
          <a:srcRect xmlns:a="http://schemas.openxmlformats.org/drawingml/2006/main" l="4704" t="0" r="47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1666875"/>
            <a:ext cx="7286625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C16E7-B2E0-49D9-861E-E328E325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286500"/>
            <a:ext cx="728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86B"/>
                </a:solidFill>
              </a:defRPr>
            </a:pPr>
            <a:r>
              <a:rPr sz="1050" b="1">
                <a:solidFill>
                  <a:srgbClr val="6F786B"/>
                </a:solidFill>
              </a:rPr>
              <a:t>실제 실행 화면 · 예약 등록</a:t>
            </a:r>
          </a:p>
        </p:txBody>
      </p:sp>
    </p:spTree>
    <p:extLst>
      <p:ext uri="{BB962C8B-B14F-4D97-AF65-F5344CB8AC3E}">
        <p14:creationId xmlns:p14="http://schemas.microsoft.com/office/powerpoint/2010/main" val="20214121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F2F67-1EE6-463C-AB2D-F8CCB6DA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448AA-B44A-458D-B60C-2DDD446F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예약 가능 시간은 네 가지 규칙으로 계산합니다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2AFCB-21D2-40BA-AEC7-2ADE4EF9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EEC4B-7B7C-417C-8AD9-3B90D808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A76F9-1301-4D2B-A9C5-B6BA03A3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476500" cy="30003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DAC14-A13D-4A29-8BE8-863CB4E0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F9270"/>
                </a:solidFill>
              </a:defRPr>
            </a:pPr>
            <a:r>
              <a:rPr sz="2175" b="1">
                <a:solidFill>
                  <a:srgbClr val="7F927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F24C2-7006-422D-A808-BB978AB8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664C"/>
                </a:solidFill>
              </a:defRPr>
            </a:pPr>
            <a:r>
              <a:rPr sz="1800" b="1">
                <a:solidFill>
                  <a:srgbClr val="53664C"/>
                </a:solidFill>
              </a:rPr>
              <a:t>영업시간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D9359-6E5C-4B54-A8F5-2D23A2C0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86B"/>
                </a:solidFill>
              </a:defRPr>
            </a:pPr>
            <a:r>
              <a:rPr sz="1350" b="0">
                <a:solidFill>
                  <a:srgbClr val="6F786B"/>
                </a:solidFill>
              </a:rPr>
              <a:t>운영 가능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72E12-BCCC-4DD1-BFB4-55A76333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52625"/>
            <a:ext cx="2476500" cy="30003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36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07011-AF88-4B77-BAD7-A267C74F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43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FE6D4"/>
                </a:solidFill>
              </a:defRPr>
            </a:pPr>
            <a:r>
              <a:rPr sz="2175" b="1">
                <a:solidFill>
                  <a:srgbClr val="DFE6D4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F4DEE-36E0-4103-A420-BEEFE7B8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527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휴무일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BECC9-9FB3-4AEB-AF8E-E401C4D3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433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FE1"/>
                </a:solidFill>
              </a:defRPr>
            </a:pPr>
            <a:r>
              <a:rPr sz="1350" b="0">
                <a:solidFill>
                  <a:srgbClr val="E8EFE1"/>
                </a:solidFill>
              </a:rPr>
              <a:t>불가 날짜 제외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63A03-B9C0-49FC-8FD5-404348C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2476500" cy="30003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8181C-D902-4BC4-B2CD-1B887FDC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3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F9270"/>
                </a:solidFill>
              </a:defRPr>
            </a:pPr>
            <a:r>
              <a:rPr sz="2175" b="1">
                <a:solidFill>
                  <a:srgbClr val="7F9270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CC4C1-2D98-4BEF-B808-07BA1E31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664C"/>
                </a:solidFill>
              </a:defRPr>
            </a:pPr>
            <a:r>
              <a:rPr sz="1800" b="1">
                <a:solidFill>
                  <a:srgbClr val="53664C"/>
                </a:solidFill>
              </a:rPr>
              <a:t>시술 시간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EE3BC-BBD8-4C53-A231-61869AE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86B"/>
                </a:solidFill>
              </a:defRPr>
            </a:pPr>
            <a:r>
              <a:rPr sz="1350" b="0">
                <a:solidFill>
                  <a:srgbClr val="6F786B"/>
                </a:solidFill>
              </a:rPr>
              <a:t>소요 시간 반영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DA167-807F-414B-8838-7606A392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952625"/>
            <a:ext cx="2476500" cy="30003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36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BCA38-53D9-4C58-9015-6EF56218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43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FE6D4"/>
                </a:solidFill>
              </a:defRPr>
            </a:pPr>
            <a:r>
              <a:rPr sz="2175" b="1">
                <a:solidFill>
                  <a:srgbClr val="DFE6D4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23A6E-8456-41F2-B790-9881A3F9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9527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기존 예약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F60C6F-0122-4CEF-A8BF-D27A9156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5433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FE1"/>
                </a:solidFill>
              </a:defRPr>
            </a:pPr>
            <a:r>
              <a:rPr sz="1350" b="0">
                <a:solidFill>
                  <a:srgbClr val="E8EFE1"/>
                </a:solidFill>
              </a:rPr>
              <a:t>충돌 시간 제거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44682-701F-4CFA-AF40-3E87DBD8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1108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F6524"/>
                </a:solidFill>
              </a:defRPr>
            </a:pPr>
            <a:r>
              <a:rPr sz="1800" b="1">
                <a:solidFill>
                  <a:srgbClr val="8F6524"/>
                </a:solidFill>
              </a:rPr>
              <a:t>결과  |  충돌하지 않는 시간만 화면에 노출</a:t>
            </a:r>
          </a:p>
        </p:txBody>
      </p:sp>
    </p:spTree>
    <p:extLst>
      <p:ext uri="{BB962C8B-B14F-4D97-AF65-F5344CB8AC3E}">
        <p14:creationId xmlns:p14="http://schemas.microsoft.com/office/powerpoint/2010/main" val="313125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FCE52-C35A-4BAA-90F7-739E75BB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2F9B9-269D-4DB3-A965-2CEAC0C1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관리자는 예약과 운영 정보를 한 화면에서 관리합니다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D6AFB-C503-47E9-BF9A-DE239E39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77CB4-5638-44AD-A6BF-C4FA65E6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234A3-BDB3-4EC2-94CD-4B82FD09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F9270"/>
                </a:solidFill>
              </a:defRPr>
            </a:pPr>
            <a:r>
              <a:rPr sz="1725" b="1">
                <a:solidFill>
                  <a:srgbClr val="7F9270"/>
                </a:solidFill>
              </a:rPr>
              <a:t>ADMIN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334B7-FFC0-4E43-BD8B-E47ECE20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33337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예약 목록·상태·거절 처리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휴무일 등록·삭제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시술 메뉴 CRUD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대표·상세 이미지 관리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cbe0bf11348f2"/>
          <a:srcRect xmlns:a="http://schemas.openxmlformats.org/drawingml/2006/main" l="3816" t="0" r="38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1666875"/>
            <a:ext cx="7429500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08C50-7358-4E89-AE8B-A462B98B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865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86B"/>
                </a:solidFill>
              </a:defRPr>
            </a:pPr>
            <a:r>
              <a:rPr sz="1050" b="1">
                <a:solidFill>
                  <a:srgbClr val="6F786B"/>
                </a:solidFill>
              </a:rPr>
              <a:t>실제 실행 화면 · 관리자 대시보드</a:t>
            </a:r>
          </a:p>
        </p:txBody>
      </p:sp>
    </p:spTree>
    <p:extLst>
      <p:ext uri="{BB962C8B-B14F-4D97-AF65-F5344CB8AC3E}">
        <p14:creationId xmlns:p14="http://schemas.microsoft.com/office/powerpoint/2010/main" val="5578561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B04EF-8C72-4F33-8BFE-A3C70904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A234D-06AE-4C02-909E-FD54D04E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계층을 분리해 변경과 검증 지점을 명확히 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D5B88-0C16-4C0D-8847-674D65CD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3E6C8-2D1B-4AC1-B0C3-887AC42D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3A2BF-95F7-4ADA-A24E-702CEB22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71750"/>
            <a:ext cx="1619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CA257-1DED-4932-B985-E98E90B8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8130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93227"/>
                </a:solidFill>
              </a:defRPr>
            </a:pPr>
            <a:r>
              <a:rPr sz="1425" b="1">
                <a:solidFill>
                  <a:srgbClr val="293227"/>
                </a:solidFill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646DB-CC01-412E-B148-7FAD4CF0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0035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F6524"/>
                </a:solidFill>
              </a:defRPr>
            </a:pPr>
            <a:r>
              <a:rPr sz="1950" b="1">
                <a:solidFill>
                  <a:srgbClr val="8F6524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AA47D-04A2-4A5F-9F1D-A5F7BDED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71750"/>
            <a:ext cx="1619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6A861-8CFA-4F80-8E18-3299C1FB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78130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93227"/>
                </a:solidFill>
              </a:defRPr>
            </a:pPr>
            <a:r>
              <a:rPr sz="1425" b="1">
                <a:solidFill>
                  <a:srgbClr val="293227"/>
                </a:solidFill>
              </a:rPr>
              <a:t>Controller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E6195-3B34-458D-9EB5-361926E4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0035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F6524"/>
                </a:solidFill>
              </a:defRPr>
            </a:pPr>
            <a:r>
              <a:rPr sz="1950" b="1">
                <a:solidFill>
                  <a:srgbClr val="8F652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A92E9-5483-47EF-9E07-6F72D25C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1619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EC06C-EB31-4A56-98B6-38451BED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8E76C-82BC-4DC7-BA33-AF7A6F1F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0035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F6524"/>
                </a:solidFill>
              </a:defRPr>
            </a:pPr>
            <a:r>
              <a:rPr sz="1950" b="1">
                <a:solidFill>
                  <a:srgbClr val="8F652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DA59B-1A05-4235-8BC4-80C6B1A0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71750"/>
            <a:ext cx="1619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D2A26-696F-4C6D-AB50-FD4EC9E2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8130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93227"/>
                </a:solidFill>
              </a:defRPr>
            </a:pPr>
            <a:r>
              <a:rPr sz="1425" b="1">
                <a:solidFill>
                  <a:srgbClr val="293227"/>
                </a:solidFill>
              </a:rPr>
              <a:t>DAO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1846E-E22C-42F4-81A6-25E25B83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0035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F6524"/>
                </a:solidFill>
              </a:defRPr>
            </a:pPr>
            <a:r>
              <a:rPr sz="1950" b="1">
                <a:solidFill>
                  <a:srgbClr val="8F6524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EFFBC-CED6-4958-8326-1C8FE5ED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1619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2A829-72D0-4C39-BF13-E294446F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93227"/>
                </a:solidFill>
              </a:defRPr>
            </a:pPr>
            <a:r>
              <a:rPr sz="1425" b="1">
                <a:solidFill>
                  <a:srgbClr val="293227"/>
                </a:solidFill>
              </a:rPr>
              <a:t>MyBatis XML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2BFE9-E32F-45A6-9A40-3A661A63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0035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F6524"/>
                </a:solidFill>
              </a:defRPr>
            </a:pPr>
            <a:r>
              <a:rPr sz="1950" b="1">
                <a:solidFill>
                  <a:srgbClr val="8F6524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F341B-DDFF-4871-A671-0C6DE5C3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571750"/>
            <a:ext cx="1619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536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68EF3-2EAB-4346-AA3C-718CD5ED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78130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Oracle XE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000439-611C-42B3-879E-E682F99C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3664C"/>
                </a:solidFill>
              </a:defRPr>
            </a:pPr>
            <a:r>
              <a:rPr sz="1650" b="1">
                <a:solidFill>
                  <a:srgbClr val="53664C"/>
                </a:solidFill>
              </a:rPr>
              <a:t>요청 수신  →  도메인 규칙 검증  →  SQL 실행  →  데이터 저장</a:t>
            </a:r>
          </a:p>
        </p:txBody>
      </p:sp>
    </p:spTree>
    <p:extLst>
      <p:ext uri="{BB962C8B-B14F-4D97-AF65-F5344CB8AC3E}">
        <p14:creationId xmlns:p14="http://schemas.microsoft.com/office/powerpoint/2010/main" val="18934823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354FC-0A98-48FE-8916-27A25985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0834F-4187-4F48-BD1A-E37FC69D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도메인 문제를 서버 규칙으로 해결했습니다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A2884-C377-445E-A15D-5038EBB4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303FD-E0F6-4073-8207-A8D5F732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5D0A8-EF6B-477A-A589-5277D693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342900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F59D1-BE8C-45F0-BE1F-AD30C661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3429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DA8AF-1229-4022-9E39-4E19E9BF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3664C"/>
                </a:solidFill>
              </a:defRPr>
            </a:pPr>
            <a:r>
              <a:rPr sz="1875" b="1">
                <a:solidFill>
                  <a:srgbClr val="53664C"/>
                </a:solidFill>
              </a:rPr>
              <a:t>중복 예약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76030-1429-4A0B-A4BC-B269925B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2809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86B"/>
                </a:solidFill>
              </a:defRPr>
            </a:pPr>
            <a:r>
              <a:rPr sz="1350" b="0">
                <a:solidFill>
                  <a:srgbClr val="6F786B"/>
                </a:solidFill>
              </a:rPr>
              <a:t>기존 예약의 시작·종료 시간과 신규 시술 시간을 교차 비교해 충돌을 차단했습니다.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2AEE6-5E0C-4238-BA8D-7DEC7EDC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05000"/>
            <a:ext cx="342900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9E794-A7F6-494C-85DD-8140F9F7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05000"/>
            <a:ext cx="3429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6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6EC53-142D-474A-B8A6-1EE2DA5A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28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3664C"/>
                </a:solidFill>
              </a:defRPr>
            </a:pPr>
            <a:r>
              <a:rPr sz="1875" b="1">
                <a:solidFill>
                  <a:srgbClr val="53664C"/>
                </a:solidFill>
              </a:rPr>
              <a:t>권한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EFB4D-259A-441A-842A-061F1177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90875"/>
            <a:ext cx="2809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86B"/>
                </a:solidFill>
              </a:defRPr>
            </a:pPr>
            <a:r>
              <a:rPr sz="1350" b="0">
                <a:solidFill>
                  <a:srgbClr val="6F786B"/>
                </a:solidFill>
              </a:rPr>
              <a:t>고객은 본인 예약만, 관리자는 운영 API만 접근하도록 세션 역할을 검사했습니다.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13B8A-582C-4FC9-92EE-4E1E8A40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05000"/>
            <a:ext cx="342900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534DF-A4D1-498D-8E89-E0B8F80C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05000"/>
            <a:ext cx="3429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36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5CBFB-C559-4754-B204-64F6B262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28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3664C"/>
                </a:solidFill>
              </a:defRPr>
            </a:pPr>
            <a:r>
              <a:rPr sz="1875" b="1">
                <a:solidFill>
                  <a:srgbClr val="53664C"/>
                </a:solidFill>
              </a:rPr>
              <a:t>실제 운영 반영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339CC-2B4F-47BE-A392-48CE46DD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90875"/>
            <a:ext cx="2809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86B"/>
                </a:solidFill>
              </a:defRPr>
            </a:pPr>
            <a:r>
              <a:rPr sz="1350" b="0">
                <a:solidFill>
                  <a:srgbClr val="6F786B"/>
                </a:solidFill>
              </a:rPr>
              <a:t>영업시간과 휴무일을 슬롯 계산에 반영해 현실적인 예약 시간을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5073908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AC876-90EF-4BAA-B0DE-99953115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DEE25-49DC-41FC-97A0-00A96C41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핵심 기능을 실제 운영 흐름까지 확장했습니다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90B5D-1433-4B82-A0BA-9FB50078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040C0-90C7-4732-84B5-D64CAB2A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E7C0B-33F5-47C4-A2FF-292C294C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1435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0B2BA-0BA6-41E7-A8FA-D72945D4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F9270"/>
                </a:solidFill>
              </a:defRPr>
            </a:pPr>
            <a:r>
              <a:rPr sz="1725" b="1">
                <a:solidFill>
                  <a:srgbClr val="7F9270"/>
                </a:solidFill>
              </a:rPr>
              <a:t>고객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D14DE-0DE6-4132-BD07-A5E7A610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시술 조회 · 예약 CRUD · 이용 내역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36B3E-E1A0-49A3-A302-2CA95F5E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1435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32EAE-BEEF-48D9-866C-EF90E609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F9270"/>
                </a:solidFill>
              </a:defRPr>
            </a:pPr>
            <a:r>
              <a:rPr sz="1725" b="1">
                <a:solidFill>
                  <a:srgbClr val="7F9270"/>
                </a:solidFill>
              </a:rPr>
              <a:t>인증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225FF-F2CE-408B-B80D-243D4677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세션 · Kakao OAuth2 · 역할 검사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F612B-E3AB-4D71-A29A-9235147D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51435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E3452-8874-4A4C-8741-2D7F5FD0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F9270"/>
                </a:solidFill>
              </a:defRPr>
            </a:pPr>
            <a:r>
              <a:rPr sz="1725" b="1">
                <a:solidFill>
                  <a:srgbClr val="7F9270"/>
                </a:solidFill>
              </a:rPr>
              <a:t>관리자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31ABB-648F-4504-9507-B03B44CA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예약 · 휴무일 · 메뉴 · 이미지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E0F89-0984-4D24-ACB1-9313A45F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51435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36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4CCFE-AD22-4878-903B-2E8E2DA1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FE6D4"/>
                </a:solidFill>
              </a:defRPr>
            </a:pPr>
            <a:r>
              <a:rPr sz="1725" b="1">
                <a:solidFill>
                  <a:srgbClr val="DFE6D4"/>
                </a:solidFill>
              </a:rPr>
              <a:t>품질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B6D8CC-E885-45AB-9ABC-5F4541AE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예외 표준화 · 마스킹 · 검증</a:t>
            </a:r>
          </a:p>
        </p:txBody>
      </p:sp>
    </p:spTree>
    <p:extLst>
      <p:ext uri="{BB962C8B-B14F-4D97-AF65-F5344CB8AC3E}">
        <p14:creationId xmlns:p14="http://schemas.microsoft.com/office/powerpoint/2010/main" val="5948079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66787-AC14-403B-A4CB-8D0BEFFD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002B5-E906-4941-A668-057AEDA9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화면·API·DB를 연결한 풀스택 경험을 완성했습니다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E7D68-6B99-4E05-BC20-1FF0DE9A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F614D-8ADC-4EBD-B806-8888C73F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5DB52-1D3B-495B-A5E9-04413C2F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1087100" cy="1666875"/>
          </a:xfrm>
          <a:prstGeom xmlns:a="http://schemas.openxmlformats.org/drawingml/2006/main" prst="roundRect">
            <a:avLst>
              <a:gd name="adj" fmla="val 14857"/>
            </a:avLst>
          </a:prstGeom>
          <a:solidFill xmlns:a="http://schemas.openxmlformats.org/drawingml/2006/main">
            <a:srgbClr val="536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F64F2-96FC-4BD2-A0CB-6F49A6D7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1019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단순 CRUD를 넘어 시간 충돌·권한·휴무일이라는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실제 예약 도메인 규칙을 구현했습니다.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AA891-6DA7-4B4D-994E-5DA4F1AE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3429000" cy="16668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E8DC0-4605-4686-9F58-7BFDA9EF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F9270"/>
                </a:solidFill>
              </a:defRPr>
            </a:pPr>
            <a:r>
              <a:rPr sz="1575" b="1">
                <a:solidFill>
                  <a:srgbClr val="7F9270"/>
                </a:solidFill>
              </a:rPr>
              <a:t>현재 성과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18B0B-8D76-4E98-8644-D8953B18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9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3227"/>
                </a:solidFill>
              </a:defRPr>
            </a:pPr>
            <a:r>
              <a:rPr sz="1500" b="1">
                <a:solidFill>
                  <a:srgbClr val="293227"/>
                </a:solidFill>
              </a:rPr>
              <a:t>고객과 운영자의</a:t>
            </a:r>
          </a:p>
          <a:p xmlns:a="http://schemas.openxmlformats.org/drawingml/2006/main">
            <a:pPr algn="l">
              <a:defRPr sz="1500" b="1">
                <a:solidFill>
                  <a:srgbClr val="293227"/>
                </a:solidFill>
              </a:defRPr>
            </a:pPr>
            <a:r>
              <a:rPr sz="1500" b="1">
                <a:solidFill>
                  <a:srgbClr val="293227"/>
                </a:solidFill>
              </a:rPr>
              <a:t>예약 흐름 완성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D60BE-10A9-42FD-B6E4-383D9C78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429000" cy="16668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C06F2-601E-4D03-8236-BF188348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F9270"/>
                </a:solidFill>
              </a:defRPr>
            </a:pPr>
            <a:r>
              <a:rPr sz="1575" b="1">
                <a:solidFill>
                  <a:srgbClr val="7F9270"/>
                </a:solidFill>
              </a:rPr>
              <a:t>다음 개선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DBEA1-01CB-46C9-9B9B-E04617C2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19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3227"/>
                </a:solidFill>
              </a:defRPr>
            </a:pPr>
            <a:r>
              <a:rPr sz="1500" b="1">
                <a:solidFill>
                  <a:srgbClr val="293227"/>
                </a:solidFill>
              </a:rPr>
              <a:t>자동화 테스트와</a:t>
            </a:r>
          </a:p>
          <a:p xmlns:a="http://schemas.openxmlformats.org/drawingml/2006/main">
            <a:pPr algn="l">
              <a:defRPr sz="1500" b="1">
                <a:solidFill>
                  <a:srgbClr val="293227"/>
                </a:solidFill>
              </a:defRPr>
            </a:pPr>
            <a:r>
              <a:rPr sz="1500" b="1">
                <a:solidFill>
                  <a:srgbClr val="293227"/>
                </a:solidFill>
              </a:rPr>
              <a:t>CI/CD 구축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EDCC0-0C9C-44C6-B098-E2FD66EA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3429000" cy="16668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9CEF7-8C5E-4CA4-9EE4-2BAB4223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F9270"/>
                </a:solidFill>
              </a:defRPr>
            </a:pPr>
            <a:r>
              <a:rPr sz="1575" b="1">
                <a:solidFill>
                  <a:srgbClr val="7F9270"/>
                </a:solidFill>
              </a:rPr>
              <a:t>확장 방향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1E95D-FB4A-4C7F-82D8-681BE30C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9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3227"/>
                </a:solidFill>
              </a:defRPr>
            </a:pPr>
            <a:r>
              <a:rPr sz="1500" b="1">
                <a:solidFill>
                  <a:srgbClr val="293227"/>
                </a:solidFill>
              </a:rPr>
              <a:t>알림 연동과</a:t>
            </a:r>
          </a:p>
          <a:p xmlns:a="http://schemas.openxmlformats.org/drawingml/2006/main">
            <a:pPr algn="l">
              <a:defRPr sz="1500" b="1">
                <a:solidFill>
                  <a:srgbClr val="293227"/>
                </a:solidFill>
              </a:defRPr>
            </a:pPr>
            <a:r>
              <a:rPr sz="1500" b="1">
                <a:solidFill>
                  <a:srgbClr val="293227"/>
                </a:solidFill>
              </a:rPr>
              <a:t>통계 대시보드</a:t>
            </a:r>
          </a:p>
        </p:txBody>
      </p:sp>
    </p:spTree>
    <p:extLst>
      <p:ext uri="{BB962C8B-B14F-4D97-AF65-F5344CB8AC3E}">
        <p14:creationId xmlns:p14="http://schemas.microsoft.com/office/powerpoint/2010/main" val="10947678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5366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F33F8-92DB-420D-9442-C5274C92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1038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FFFFFF"/>
                </a:solidFill>
              </a:defRPr>
            </a:pPr>
            <a:r>
              <a:rPr sz="3075" b="1">
                <a:solidFill>
                  <a:srgbClr val="FFFFFF"/>
                </a:solidFill>
              </a:rPr>
              <a:t>마린보이는 예약 화면이 아니라,</a:t>
            </a:r>
          </a:p>
          <a:p xmlns:a="http://schemas.openxmlformats.org/drawingml/2006/main">
            <a:pPr algn="ctr">
              <a:defRPr sz="3075" b="1">
                <a:solidFill>
                  <a:srgbClr val="FFFFFF"/>
                </a:solidFill>
              </a:defRPr>
            </a:pPr>
            <a:r>
              <a:rPr sz="3075" b="1">
                <a:solidFill>
                  <a:srgbClr val="FFFFFF"/>
                </a:solidFill>
              </a:rPr>
              <a:t>고객과 운영자를 연결하는 시스템입니다.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A4E8F-54DF-406B-B259-1CD48709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910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FE6D4"/>
                </a:solidFill>
              </a:defRPr>
            </a:pPr>
            <a:r>
              <a:rPr sz="1650" b="1">
                <a:solidFill>
                  <a:srgbClr val="DFE6D4"/>
                </a:solidFill>
              </a:rPr>
              <a:t>THANK YOU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6C30D-61B9-4148-A54C-BDF1DD5E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8EFE1"/>
                </a:solidFill>
              </a:defRPr>
            </a:pPr>
            <a:r>
              <a:rPr sz="1275" b="1">
                <a:solidFill>
                  <a:srgbClr val="E8EFE1"/>
                </a:solidFill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745570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2026-07-20T04:11:04.2790000Z</dcterms:created>
  <dcterms:modified xsi:type="dcterms:W3CDTF">2026-07-20T04:11:04.2800000Z</dcterms:modified>
</coreProperties>
</file>