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80dec99236409d" /><Relationship Type="http://schemas.openxmlformats.org/officeDocument/2006/relationships/extended-properties" Target="/docProps/app.xml" Id="R487a580c85c54b5b" /><Relationship Type="http://schemas.openxmlformats.org/officeDocument/2006/relationships/officeDocument" Target="/ppt/presentation.xml" Id="R0343161257b143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de5e3dccb7428b"/>
  </p:sldMasterIdLst>
  <p:notesMasterIdLst>
    <p:notesMasterId xmlns:r="http://schemas.openxmlformats.org/officeDocument/2006/relationships" r:id="R1006e7218ec249b2"/>
  </p:notesMasterIdLst>
  <p:sldIdLst>
    <p:sldId xmlns:r="http://schemas.openxmlformats.org/officeDocument/2006/relationships" id="256" r:id="Raefaec0d5d274c41"/>
    <p:sldId xmlns:r="http://schemas.openxmlformats.org/officeDocument/2006/relationships" id="257" r:id="R68578886f58f4b3f"/>
    <p:sldId xmlns:r="http://schemas.openxmlformats.org/officeDocument/2006/relationships" id="258" r:id="R62c9bb5c7d294bcd"/>
    <p:sldId xmlns:r="http://schemas.openxmlformats.org/officeDocument/2006/relationships" id="259" r:id="Re176a9d82170436b"/>
    <p:sldId xmlns:r="http://schemas.openxmlformats.org/officeDocument/2006/relationships" id="260" r:id="R32a0905bbc624eae"/>
    <p:sldId xmlns:r="http://schemas.openxmlformats.org/officeDocument/2006/relationships" id="261" r:id="R699229bac4fa49bf"/>
    <p:sldId xmlns:r="http://schemas.openxmlformats.org/officeDocument/2006/relationships" id="262" r:id="Rc356cc7b01da4b69"/>
    <p:sldId xmlns:r="http://schemas.openxmlformats.org/officeDocument/2006/relationships" id="263" r:id="R4386a5ba999342f0"/>
    <p:sldId xmlns:r="http://schemas.openxmlformats.org/officeDocument/2006/relationships" id="264" r:id="R743c00ec57bf4624"/>
    <p:sldId xmlns:r="http://schemas.openxmlformats.org/officeDocument/2006/relationships" id="265" r:id="R3d6a03c0eeb24b6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c84a0c96c3453a" /><Relationship Type="http://schemas.openxmlformats.org/officeDocument/2006/relationships/slideMaster" Target="/ppt/slideMasters/slideMaster1.xml" Id="R8fde5e3dccb7428b" /><Relationship Type="http://schemas.openxmlformats.org/officeDocument/2006/relationships/notesMaster" Target="/ppt/notesMasters/notesMaster1.xml" Id="R1006e7218ec249b2" /><Relationship Type="http://schemas.openxmlformats.org/officeDocument/2006/relationships/presProps" Target="/ppt/presProps.xml" Id="R36f1cdfe16a94d3d" /><Relationship Type="http://schemas.openxmlformats.org/officeDocument/2006/relationships/tableStyles" Target="/ppt/tableStyles.xml" Id="R7d8586632c5c46d4" /><Relationship Type="http://schemas.openxmlformats.org/officeDocument/2006/relationships/slide" Target="/ppt/slides/slide1.xml" Id="Raefaec0d5d274c41" /><Relationship Type="http://schemas.openxmlformats.org/officeDocument/2006/relationships/slide" Target="/ppt/slides/slide2.xml" Id="R68578886f58f4b3f" /><Relationship Type="http://schemas.openxmlformats.org/officeDocument/2006/relationships/slide" Target="/ppt/slides/slide3.xml" Id="R62c9bb5c7d294bcd" /><Relationship Type="http://schemas.openxmlformats.org/officeDocument/2006/relationships/slide" Target="/ppt/slides/slide4.xml" Id="Re176a9d82170436b" /><Relationship Type="http://schemas.openxmlformats.org/officeDocument/2006/relationships/slide" Target="/ppt/slides/slide5.xml" Id="R32a0905bbc624eae" /><Relationship Type="http://schemas.openxmlformats.org/officeDocument/2006/relationships/slide" Target="/ppt/slides/slide6.xml" Id="R699229bac4fa49bf" /><Relationship Type="http://schemas.openxmlformats.org/officeDocument/2006/relationships/slide" Target="/ppt/slides/slide7.xml" Id="Rc356cc7b01da4b69" /><Relationship Type="http://schemas.openxmlformats.org/officeDocument/2006/relationships/slide" Target="/ppt/slides/slide8.xml" Id="R4386a5ba999342f0" /><Relationship Type="http://schemas.openxmlformats.org/officeDocument/2006/relationships/slide" Target="/ppt/slides/slide9.xml" Id="R743c00ec57bf4624" /><Relationship Type="http://schemas.openxmlformats.org/officeDocument/2006/relationships/slide" Target="/ppt/slides/slide10.xml" Id="R3d6a03c0eeb24b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48aadba8bd45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d83c27df424f1b" /><Relationship Type="http://schemas.openxmlformats.org/officeDocument/2006/relationships/notesMaster" Target="/ppt/notesMasters/notesMaster1.xml" Id="Rbbbbd4c964044b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6f6d2d2ece4d8d" /><Relationship Type="http://schemas.openxmlformats.org/officeDocument/2006/relationships/notesMaster" Target="/ppt/notesMasters/notesMaster1.xml" Id="R5edca7da744b40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52b1af0672415a" /><Relationship Type="http://schemas.openxmlformats.org/officeDocument/2006/relationships/notesMaster" Target="/ppt/notesMasters/notesMaster1.xml" Id="R3d2e3dba77ff42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2b786c4b92463e" /><Relationship Type="http://schemas.openxmlformats.org/officeDocument/2006/relationships/notesMaster" Target="/ppt/notesMasters/notesMaster1.xml" Id="Rd721f9f68d7f45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04c40d16874845" /><Relationship Type="http://schemas.openxmlformats.org/officeDocument/2006/relationships/notesMaster" Target="/ppt/notesMasters/notesMaster1.xml" Id="R94f47a267bca4c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4572bdff354697" /><Relationship Type="http://schemas.openxmlformats.org/officeDocument/2006/relationships/notesMaster" Target="/ppt/notesMasters/notesMaster1.xml" Id="Rab9083eeb60845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e8980413d54afd" /><Relationship Type="http://schemas.openxmlformats.org/officeDocument/2006/relationships/notesMaster" Target="/ppt/notesMasters/notesMaster1.xml" Id="R8f4a9ed712424b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361a5e82da41b6" /><Relationship Type="http://schemas.openxmlformats.org/officeDocument/2006/relationships/notesMaster" Target="/ppt/notesMasters/notesMaster1.xml" Id="R7e6643e2a07a405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426a807562d425e" /><Relationship Type="http://schemas.openxmlformats.org/officeDocument/2006/relationships/notesMaster" Target="/ppt/notesMasters/notesMaster1.xml" Id="R35ac60a7b6cf4e7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7ec58813214a22" /><Relationship Type="http://schemas.openxmlformats.org/officeDocument/2006/relationships/notesMaster" Target="/ppt/notesMasters/notesMaster1.xml" Id="R11103d8131ac40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85000fcfb443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fb931df9b04c68" /><Relationship Type="http://schemas.openxmlformats.org/officeDocument/2006/relationships/slideLayout" Target="/ppt/slideLayouts/slideLayout1.xml" Id="R06961d42d6b64d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961d42d6b64d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4bc81fb2743e7" /><Relationship Type="http://schemas.openxmlformats.org/officeDocument/2006/relationships/image" Target="/ppt/media/image.png" Id="R83870268d9da4426" /><Relationship Type="http://schemas.openxmlformats.org/officeDocument/2006/relationships/notesSlide" Target="/ppt/notesSlides/notesSlide1.xml" Id="R52c2b434700948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848c9f52f7478f" /><Relationship Type="http://schemas.openxmlformats.org/officeDocument/2006/relationships/notesSlide" Target="/ppt/notesSlides/notesSlide2.xml" Id="R8e2d615dc0934b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8d1391ea264f6d" /><Relationship Type="http://schemas.openxmlformats.org/officeDocument/2006/relationships/image" Target="/ppt/media/image2.png" Id="R9a9723744e8e4be1" /><Relationship Type="http://schemas.openxmlformats.org/officeDocument/2006/relationships/notesSlide" Target="/ppt/notesSlides/notesSlide3.xml" Id="R7cac09df676540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6884f031404947" /><Relationship Type="http://schemas.openxmlformats.org/officeDocument/2006/relationships/image" Target="/ppt/media/image3.png" Id="R6dc909b9a3a4456c" /><Relationship Type="http://schemas.openxmlformats.org/officeDocument/2006/relationships/notesSlide" Target="/ppt/notesSlides/notesSlide4.xml" Id="R165e7da270c34d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a53180f31a4edf" /><Relationship Type="http://schemas.openxmlformats.org/officeDocument/2006/relationships/notesSlide" Target="/ppt/notesSlides/notesSlide5.xml" Id="Rb9c02e185d8044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f0e47dc55a4020" /><Relationship Type="http://schemas.openxmlformats.org/officeDocument/2006/relationships/image" Target="/ppt/media/image4.png" Id="Re1d29a6229a44e78" /><Relationship Type="http://schemas.openxmlformats.org/officeDocument/2006/relationships/notesSlide" Target="/ppt/notesSlides/notesSlide6.xml" Id="R2fb59c5bfeb44b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ac3d8efcbe4323" /><Relationship Type="http://schemas.openxmlformats.org/officeDocument/2006/relationships/notesSlide" Target="/ppt/notesSlides/notesSlide7.xml" Id="R1cdc36c5cfc441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e3429364944d93" /><Relationship Type="http://schemas.openxmlformats.org/officeDocument/2006/relationships/notesSlide" Target="/ppt/notesSlides/notesSlide8.xml" Id="Rb25deea179e843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15cd35150542b5" /><Relationship Type="http://schemas.openxmlformats.org/officeDocument/2006/relationships/notesSlide" Target="/ppt/notesSlides/notesSlide9.xml" Id="Rd5b1bf974ba748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d9451a984649c4" /><Relationship Type="http://schemas.openxmlformats.org/officeDocument/2006/relationships/notesSlide" Target="/ppt/notesSlides/notesSlide10.xml" Id="Rbd20eb04236542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96397C-1FB5-4E9F-96F6-169742AA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0"/>
            <a:ext cx="47625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FE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98434-5371-4047-A80F-6271E2E4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F9270"/>
                </a:solidFill>
              </a:defRPr>
            </a:pPr>
            <a:r>
              <a:rPr sz="1275" b="1">
                <a:solidFill>
                  <a:srgbClr val="7F9270"/>
                </a:solidFill>
              </a:rPr>
              <a:t>MARINBOY SALON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5CB3C7-FCC6-421D-AD72-70AA5C9B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286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53664C"/>
                </a:solidFill>
              </a:defRPr>
            </a:pPr>
            <a:r>
              <a:rPr sz="3750" b="1">
                <a:solidFill>
                  <a:srgbClr val="53664C"/>
                </a:solidFill>
              </a:rPr>
              <a:t>미용실 예약의 전 과정을</a:t>
            </a:r>
          </a:p>
          <a:p xmlns:a="http://schemas.openxmlformats.org/drawingml/2006/main">
            <a:pPr algn="l">
              <a:defRPr sz="3750" b="1">
                <a:solidFill>
                  <a:srgbClr val="53664C"/>
                </a:solidFill>
              </a:defRPr>
            </a:pPr>
            <a:r>
              <a:rPr sz="3750" b="1">
                <a:solidFill>
                  <a:srgbClr val="53664C"/>
                </a:solidFill>
              </a:rPr>
              <a:t>하나의 서비스로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37905B-3D7F-42BB-B929-2B8D2376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67125"/>
            <a:ext cx="590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F786B"/>
                </a:solidFill>
              </a:defRPr>
            </a:pPr>
            <a:r>
              <a:rPr sz="1725" b="0">
                <a:solidFill>
                  <a:srgbClr val="6F786B"/>
                </a:solidFill>
              </a:rPr>
              <a:t>Spring Boot · MyBatis · Oracle 기반</a:t>
            </a:r>
          </a:p>
          <a:p xmlns:a="http://schemas.openxmlformats.org/drawingml/2006/main">
            <a:pPr algn="l">
              <a:defRPr sz="1725" b="0">
                <a:solidFill>
                  <a:srgbClr val="6F786B"/>
                </a:solidFill>
              </a:defRPr>
            </a:pPr>
            <a:r>
              <a:rPr sz="1725" b="0">
                <a:solidFill>
                  <a:srgbClr val="6F786B"/>
                </a:solidFill>
              </a:rPr>
              <a:t>고객 예약 및 관리자 운영 플랫폼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80A9D9-A4D8-41D4-B129-FB845365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561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F6524"/>
                </a:solidFill>
              </a:defRPr>
            </a:pPr>
            <a:r>
              <a:rPr sz="1125" b="1">
                <a:solidFill>
                  <a:srgbClr val="8F6524"/>
                </a:solidFill>
              </a:rPr>
              <a:t>FULL-STACK PORTFOLIO  |  2026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870268d9da4426"/>
          <a:srcRect xmlns:a="http://schemas.openxmlformats.org/drawingml/2006/main" l="5297" t="0" r="52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3375" y="714375"/>
            <a:ext cx="3714750" cy="54292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</p:spTree>
    <p:extLst>
      <p:ext uri="{BB962C8B-B14F-4D97-AF65-F5344CB8AC3E}">
        <p14:creationId xmlns:p14="http://schemas.microsoft.com/office/powerpoint/2010/main" val="5260528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174D07-2E2C-47E5-9F25-261669CA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F9270"/>
                </a:solidFill>
              </a:defRPr>
            </a:pPr>
            <a:r>
              <a:rPr sz="1050" b="1">
                <a:solidFill>
                  <a:srgbClr val="7F9270"/>
                </a:solidFill>
              </a:rPr>
              <a:t>MARINBOY SALON · FULL-STACK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9A96FB-A23C-4072-9689-DA8BAEE8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3664C"/>
                </a:solidFill>
              </a:defRPr>
            </a:pPr>
            <a:r>
              <a:rPr sz="2850" b="1">
                <a:solidFill>
                  <a:srgbClr val="53664C"/>
                </a:solidFill>
              </a:rPr>
              <a:t>전화 예약의 불편을 하나의 웹 흐름으로 바꿨습니다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84E3D8-F496-41DA-9AA4-7DDAAA36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87100" cy="285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F92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8476C-8589-4614-8A0D-571FD856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F786B"/>
                </a:solidFill>
              </a:defRPr>
            </a:pPr>
            <a:r>
              <a:rPr sz="975" b="1">
                <a:solidFill>
                  <a:srgbClr val="6F786B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35B3FE-7412-422A-85CA-22A724F1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57375"/>
            <a:ext cx="3429000" cy="309562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EF9"/>
          </a:solidFill>
          <a:ln xmlns:a="http://schemas.openxmlformats.org/drawingml/2006/main" w="9525">
            <a:solidFill>
              <a:srgbClr val="D5DD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D8C44C-5788-49E2-95C2-6038939D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F9270"/>
                </a:solidFill>
              </a:defRPr>
            </a:pPr>
            <a:r>
              <a:rPr sz="2250" b="1">
                <a:solidFill>
                  <a:srgbClr val="7F9270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92418F-3EC1-4D43-964A-65C675BA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3664C"/>
                </a:solidFill>
              </a:defRPr>
            </a:pPr>
            <a:r>
              <a:rPr sz="1950" b="1">
                <a:solidFill>
                  <a:srgbClr val="53664C"/>
                </a:solidFill>
              </a:rPr>
              <a:t>고객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86797D-53D9-4EF7-AC73-D49886C2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71875"/>
            <a:ext cx="2809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86B"/>
                </a:solidFill>
              </a:defRPr>
            </a:pPr>
            <a:r>
              <a:rPr sz="1350" b="0">
                <a:solidFill>
                  <a:srgbClr val="6F786B"/>
                </a:solidFill>
              </a:rPr>
              <a:t>가능 시간 확인과 예약 변경이 번거롭습니다.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BB3BBC-2D67-4184-9ED7-FA408D82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57375"/>
            <a:ext cx="3429000" cy="309562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EF9"/>
          </a:solidFill>
          <a:ln xmlns:a="http://schemas.openxmlformats.org/drawingml/2006/main" w="9525">
            <a:solidFill>
              <a:srgbClr val="D5DD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C658C1-D3F9-457D-8298-93D94456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955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F9270"/>
                </a:solidFill>
              </a:defRPr>
            </a:pPr>
            <a:r>
              <a:rPr sz="2250" b="1">
                <a:solidFill>
                  <a:srgbClr val="7F9270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2D173F-C5B6-4BF8-80B8-8B4B3CC37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5750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3664C"/>
                </a:solidFill>
              </a:defRPr>
            </a:pPr>
            <a:r>
              <a:rPr sz="1950" b="1">
                <a:solidFill>
                  <a:srgbClr val="53664C"/>
                </a:solidFill>
              </a:rPr>
              <a:t>운영자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4D028E-E631-4CB8-8D33-0A0E07A2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71875"/>
            <a:ext cx="2809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86B"/>
                </a:solidFill>
              </a:defRPr>
            </a:pPr>
            <a:r>
              <a:rPr sz="1350" b="0">
                <a:solidFill>
                  <a:srgbClr val="6F786B"/>
                </a:solidFill>
              </a:rPr>
              <a:t>예약·휴무일·메뉴 정보가 흩어져 있습니다.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BF3A5D-5FC9-4D1A-A083-F19461A5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57375"/>
            <a:ext cx="3429000" cy="309562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5366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5B50FF-8FF6-41CF-A2EF-BE0E3117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955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FE6D4"/>
                </a:solidFill>
              </a:defRPr>
            </a:pPr>
            <a:r>
              <a:rPr sz="2250" b="1">
                <a:solidFill>
                  <a:srgbClr val="DFE6D4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632875-2EC3-4A5E-A390-93ADBBEB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5750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해결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75FD9B-26CA-49EA-922E-7C849FB8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71875"/>
            <a:ext cx="2809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8EFE1"/>
                </a:solidFill>
              </a:defRPr>
            </a:pPr>
            <a:r>
              <a:rPr sz="1350" b="0">
                <a:solidFill>
                  <a:srgbClr val="E8EFE1"/>
                </a:solidFill>
              </a:rPr>
              <a:t>고객과 관리자가 같은 예약 데이터를 사용합니다.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4321DD-5FC4-4A03-A817-95C3A43E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8F6524"/>
                </a:solidFill>
              </a:defRPr>
            </a:pPr>
            <a:r>
              <a:rPr sz="1875" b="1">
                <a:solidFill>
                  <a:srgbClr val="8F6524"/>
                </a:solidFill>
              </a:rPr>
              <a:t>예약의 시작부터 운영 관리까지 한 시스템에서 연결</a:t>
            </a:r>
          </a:p>
        </p:txBody>
      </p:sp>
    </p:spTree>
    <p:extLst>
      <p:ext uri="{BB962C8B-B14F-4D97-AF65-F5344CB8AC3E}">
        <p14:creationId xmlns:p14="http://schemas.microsoft.com/office/powerpoint/2010/main" val="3010656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17DF56-34C8-49FB-80FA-0D2CC24B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F9270"/>
                </a:solidFill>
              </a:defRPr>
            </a:pPr>
            <a:r>
              <a:rPr sz="1050" b="1">
                <a:solidFill>
                  <a:srgbClr val="7F9270"/>
                </a:solidFill>
              </a:rPr>
              <a:t>MARINBOY SALON · FULL-STACK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B35CC5-8D43-4080-80CC-5BAEFA21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3664C"/>
                </a:solidFill>
              </a:defRPr>
            </a:pPr>
            <a:r>
              <a:rPr sz="2850" b="1">
                <a:solidFill>
                  <a:srgbClr val="53664C"/>
                </a:solidFill>
              </a:rPr>
              <a:t>메인 화면에서 서비스의 분위기와 예약 동선을 전달합니다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B9DD7F-BF69-4B84-BDEC-371F707C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87100" cy="285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F92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CC1996-841D-4E45-BD10-4A2DB5F0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F786B"/>
                </a:solidFill>
              </a:defRPr>
            </a:pPr>
            <a:r>
              <a:rPr sz="975" b="1">
                <a:solidFill>
                  <a:srgbClr val="6F786B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6AD59C-D3C7-4EAF-80FD-E63B8896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F9270"/>
                </a:solidFill>
              </a:defRPr>
            </a:pPr>
            <a:r>
              <a:rPr sz="1725" b="1">
                <a:solidFill>
                  <a:srgbClr val="7F9270"/>
                </a:solidFill>
              </a:rPr>
              <a:t>CUSTOMER MAIN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5DE6D4-D19E-46B7-AAA1-E341ED02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38375"/>
            <a:ext cx="34290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93227"/>
                </a:solidFill>
              </a:defRPr>
            </a:pPr>
            <a:r>
              <a:rPr sz="1425" b="0">
                <a:solidFill>
                  <a:srgbClr val="293227"/>
                </a:solidFill>
              </a:rPr>
              <a:t>• 브랜드 소개와 핵심 CTA</a:t>
            </a:r>
          </a:p>
          <a:p xmlns:a="http://schemas.openxmlformats.org/drawingml/2006/main">
            <a:pPr algn="l">
              <a:defRPr sz="1425" b="0">
                <a:solidFill>
                  <a:srgbClr val="293227"/>
                </a:solidFill>
              </a:defRPr>
            </a:pPr>
            <a:r>
              <a:rPr sz="1425" b="0">
                <a:solidFill>
                  <a:srgbClr val="293227"/>
                </a:solidFill>
              </a:rPr>
              <a:t>• 월간 헤어·네일 추천</a:t>
            </a:r>
          </a:p>
          <a:p xmlns:a="http://schemas.openxmlformats.org/drawingml/2006/main">
            <a:pPr algn="l">
              <a:defRPr sz="1425" b="0">
                <a:solidFill>
                  <a:srgbClr val="293227"/>
                </a:solidFill>
              </a:defRPr>
            </a:pPr>
            <a:r>
              <a:rPr sz="1425" b="0">
                <a:solidFill>
                  <a:srgbClr val="293227"/>
                </a:solidFill>
              </a:rPr>
              <a:t>• 시술 메뉴 탐색</a:t>
            </a:r>
          </a:p>
          <a:p xmlns:a="http://schemas.openxmlformats.org/drawingml/2006/main">
            <a:pPr algn="l">
              <a:defRPr sz="1425" b="0">
                <a:solidFill>
                  <a:srgbClr val="293227"/>
                </a:solidFill>
              </a:defRPr>
            </a:pPr>
            <a:r>
              <a:rPr sz="1425" b="0">
                <a:solidFill>
                  <a:srgbClr val="293227"/>
                </a:solidFill>
              </a:rPr>
              <a:t>• 예약 가능 현황 확인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9723744e8e4be1"/>
          <a:srcRect xmlns:a="http://schemas.openxmlformats.org/drawingml/2006/main" l="0" t="5294" r="0" b="52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33875" y="1666875"/>
            <a:ext cx="7286625" cy="4524375"/>
          </a:xfrm>
          <a:prstGeom xmlns:a="http://schemas.openxmlformats.org/drawingml/2006/main" prst="roundRect">
            <a:avLst>
              <a:gd name="adj" fmla="val 252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685176-1A1C-4C84-86C3-F8B39C1B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6286500"/>
            <a:ext cx="7286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F786B"/>
                </a:solidFill>
              </a:defRPr>
            </a:pPr>
            <a:r>
              <a:rPr sz="1050" b="1">
                <a:solidFill>
                  <a:srgbClr val="6F786B"/>
                </a:solidFill>
              </a:rPr>
              <a:t>수정 후 실행 화면 · 고객 메인</a:t>
            </a:r>
          </a:p>
        </p:txBody>
      </p:sp>
    </p:spTree>
    <p:extLst>
      <p:ext uri="{BB962C8B-B14F-4D97-AF65-F5344CB8AC3E}">
        <p14:creationId xmlns:p14="http://schemas.microsoft.com/office/powerpoint/2010/main" val="6391573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C78A9E-0132-4944-83D0-602D8D1E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F9270"/>
                </a:solidFill>
              </a:defRPr>
            </a:pPr>
            <a:r>
              <a:rPr sz="1050" b="1">
                <a:solidFill>
                  <a:srgbClr val="7F9270"/>
                </a:solidFill>
              </a:rPr>
              <a:t>MARINBOY SALON · FULL-STACK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95B80F-4CB4-4027-8DCA-C8697AC9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3664C"/>
                </a:solidFill>
              </a:defRPr>
            </a:pPr>
            <a:r>
              <a:rPr sz="2850" b="1">
                <a:solidFill>
                  <a:srgbClr val="53664C"/>
                </a:solidFill>
              </a:rPr>
              <a:t>고객은 가능한 시간만 선택해 예약합니다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88D77-B32D-4870-A052-0A2121B1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87100" cy="285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F92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A9740A-9688-4052-B115-30959C41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F786B"/>
                </a:solidFill>
              </a:defRPr>
            </a:pPr>
            <a:r>
              <a:rPr sz="975" b="1">
                <a:solidFill>
                  <a:srgbClr val="6F786B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6BD624-8901-4A64-BC9D-39F506B3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F9270"/>
                </a:solidFill>
              </a:defRPr>
            </a:pPr>
            <a:r>
              <a:rPr sz="1725" b="1">
                <a:solidFill>
                  <a:srgbClr val="7F9270"/>
                </a:solidFill>
              </a:rPr>
              <a:t>RESERVATION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E3B2A6-4407-49A2-BF2C-E52EB969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38375"/>
            <a:ext cx="34290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93227"/>
                </a:solidFill>
              </a:defRPr>
            </a:pPr>
            <a:r>
              <a:rPr sz="1425" b="0">
                <a:solidFill>
                  <a:srgbClr val="293227"/>
                </a:solidFill>
              </a:rPr>
              <a:t>• 시술과 날짜 선택</a:t>
            </a:r>
          </a:p>
          <a:p xmlns:a="http://schemas.openxmlformats.org/drawingml/2006/main">
            <a:pPr algn="l">
              <a:defRPr sz="1425" b="0">
                <a:solidFill>
                  <a:srgbClr val="293227"/>
                </a:solidFill>
              </a:defRPr>
            </a:pPr>
            <a:r>
              <a:rPr sz="1425" b="0">
                <a:solidFill>
                  <a:srgbClr val="293227"/>
                </a:solidFill>
              </a:rPr>
              <a:t>• 예약 가능 시간 표시</a:t>
            </a:r>
          </a:p>
          <a:p xmlns:a="http://schemas.openxmlformats.org/drawingml/2006/main">
            <a:pPr algn="l">
              <a:defRPr sz="1425" b="0">
                <a:solidFill>
                  <a:srgbClr val="293227"/>
                </a:solidFill>
              </a:defRPr>
            </a:pPr>
            <a:r>
              <a:rPr sz="1425" b="0">
                <a:solidFill>
                  <a:srgbClr val="293227"/>
                </a:solidFill>
              </a:rPr>
              <a:t>• 고객 정보 자동 입력</a:t>
            </a:r>
          </a:p>
          <a:p xmlns:a="http://schemas.openxmlformats.org/drawingml/2006/main">
            <a:pPr algn="l">
              <a:defRPr sz="1425" b="0">
                <a:solidFill>
                  <a:srgbClr val="293227"/>
                </a:solidFill>
              </a:defRPr>
            </a:pPr>
            <a:r>
              <a:rPr sz="1425" b="0">
                <a:solidFill>
                  <a:srgbClr val="293227"/>
                </a:solidFill>
              </a:rPr>
              <a:t>• 노쇼 정책 동의</a:t>
            </a:r>
          </a:p>
          <a:p xmlns:a="http://schemas.openxmlformats.org/drawingml/2006/main">
            <a:pPr algn="l">
              <a:defRPr sz="1425" b="0">
                <a:solidFill>
                  <a:srgbClr val="293227"/>
                </a:solidFill>
              </a:defRPr>
            </a:pPr>
            <a:r>
              <a:rPr sz="1425" b="0">
                <a:solidFill>
                  <a:srgbClr val="293227"/>
                </a:solidFill>
              </a:rPr>
              <a:t>• 이전 시술 내역 확인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c909b9a3a4456c"/>
          <a:srcRect xmlns:a="http://schemas.openxmlformats.org/drawingml/2006/main" l="4704" t="0" r="47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33875" y="1666875"/>
            <a:ext cx="7286625" cy="4524375"/>
          </a:xfrm>
          <a:prstGeom xmlns:a="http://schemas.openxmlformats.org/drawingml/2006/main" prst="roundRect">
            <a:avLst>
              <a:gd name="adj" fmla="val 252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E348D3-A0B6-4188-A324-11F24AD3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6286500"/>
            <a:ext cx="7286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F786B"/>
                </a:solidFill>
              </a:defRPr>
            </a:pPr>
            <a:r>
              <a:rPr sz="1050" b="1">
                <a:solidFill>
                  <a:srgbClr val="6F786B"/>
                </a:solidFill>
              </a:rPr>
              <a:t>수정 후 실행 화면 · 예약 등록</a:t>
            </a:r>
          </a:p>
        </p:txBody>
      </p:sp>
    </p:spTree>
    <p:extLst>
      <p:ext uri="{BB962C8B-B14F-4D97-AF65-F5344CB8AC3E}">
        <p14:creationId xmlns:p14="http://schemas.microsoft.com/office/powerpoint/2010/main" val="8460451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078FE5-6919-4EB2-849F-C8FDCDEE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F9270"/>
                </a:solidFill>
              </a:defRPr>
            </a:pPr>
            <a:r>
              <a:rPr sz="1050" b="1">
                <a:solidFill>
                  <a:srgbClr val="7F9270"/>
                </a:solidFill>
              </a:rPr>
              <a:t>MARINBOY SALON · FULL-STACK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CCAC68-FB97-41E3-A6BC-788DC452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3664C"/>
                </a:solidFill>
              </a:defRPr>
            </a:pPr>
            <a:r>
              <a:rPr sz="2850" b="1">
                <a:solidFill>
                  <a:srgbClr val="53664C"/>
                </a:solidFill>
              </a:rPr>
              <a:t>예약 가능 시간은 네 가지 규칙으로 계산합니다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2E37E0-C095-4E24-BA96-8321D861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87100" cy="285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F92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51C1C3-4286-492E-9E54-56A1437E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F786B"/>
                </a:solidFill>
              </a:defRPr>
            </a:pPr>
            <a:r>
              <a:rPr sz="975" b="1">
                <a:solidFill>
                  <a:srgbClr val="6F786B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7AA1A-44C3-418D-8688-597ECBBD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2476500" cy="30003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EF9"/>
          </a:solidFill>
          <a:ln xmlns:a="http://schemas.openxmlformats.org/drawingml/2006/main" w="9525">
            <a:solidFill>
              <a:srgbClr val="D5DD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FA2A1-23A4-4EDF-ADB0-1A7A8805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F9270"/>
                </a:solidFill>
              </a:defRPr>
            </a:pPr>
            <a:r>
              <a:rPr sz="2175" b="1">
                <a:solidFill>
                  <a:srgbClr val="7F9270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C99078-13BD-4C31-923C-2C30A645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3664C"/>
                </a:solidFill>
              </a:defRPr>
            </a:pPr>
            <a:r>
              <a:rPr sz="1800" b="1">
                <a:solidFill>
                  <a:srgbClr val="53664C"/>
                </a:solidFill>
              </a:rPr>
              <a:t>영업시간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50EB99-9E07-46F8-A3C8-F04C0441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86B"/>
                </a:solidFill>
              </a:defRPr>
            </a:pPr>
            <a:r>
              <a:rPr sz="1350" b="0">
                <a:solidFill>
                  <a:srgbClr val="6F786B"/>
                </a:solidFill>
              </a:rPr>
              <a:t>운영 가능 범위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8E5ED3-F026-4C0A-94FC-4DE80CEF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952625"/>
            <a:ext cx="2476500" cy="30003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5366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6297FF-63E3-4FA4-928E-42549C68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14312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DFE6D4"/>
                </a:solidFill>
              </a:defRPr>
            </a:pPr>
            <a:r>
              <a:rPr sz="2175" b="1">
                <a:solidFill>
                  <a:srgbClr val="DFE6D4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27B888-4C55-46F3-8804-FD8DE178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95275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휴무일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E87EF3-23D5-4E1D-AC5F-CE824EE9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543300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8EFE1"/>
                </a:solidFill>
              </a:defRPr>
            </a:pPr>
            <a:r>
              <a:rPr sz="1350" b="0">
                <a:solidFill>
                  <a:srgbClr val="E8EFE1"/>
                </a:solidFill>
              </a:rPr>
              <a:t>불가 날짜 제외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D00727-421A-4D68-BC26-87EB9289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52625"/>
            <a:ext cx="2476500" cy="30003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EF9"/>
          </a:solidFill>
          <a:ln xmlns:a="http://schemas.openxmlformats.org/drawingml/2006/main" w="9525">
            <a:solidFill>
              <a:srgbClr val="D5DD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E04301-DDAC-4B37-9D99-C4B439F3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4312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F9270"/>
                </a:solidFill>
              </a:defRPr>
            </a:pPr>
            <a:r>
              <a:rPr sz="2175" b="1">
                <a:solidFill>
                  <a:srgbClr val="7F9270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A36C5F-C51D-479B-8FC1-3A92DAB6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5275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3664C"/>
                </a:solidFill>
              </a:defRPr>
            </a:pPr>
            <a:r>
              <a:rPr sz="1800" b="1">
                <a:solidFill>
                  <a:srgbClr val="53664C"/>
                </a:solidFill>
              </a:rPr>
              <a:t>시술 시간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2C53D9-26ED-48A2-B409-B03D5002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43300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86B"/>
                </a:solidFill>
              </a:defRPr>
            </a:pPr>
            <a:r>
              <a:rPr sz="1350" b="0">
                <a:solidFill>
                  <a:srgbClr val="6F786B"/>
                </a:solidFill>
              </a:rPr>
              <a:t>소요 시간 반영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7DA22E-C802-43CB-8305-6A05E67E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952625"/>
            <a:ext cx="2476500" cy="30003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5366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B052F1-88E8-4BBC-A589-E1571A1A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14312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DFE6D4"/>
                </a:solidFill>
              </a:defRPr>
            </a:pPr>
            <a:r>
              <a:rPr sz="2175" b="1">
                <a:solidFill>
                  <a:srgbClr val="DFE6D4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968F43-A7D6-4F2F-A200-F17968C4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95275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기존 예약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6D33C2-C9B5-40FF-98AA-631300BF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543300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8EFE1"/>
                </a:solidFill>
              </a:defRPr>
            </a:pPr>
            <a:r>
              <a:rPr sz="1350" b="0">
                <a:solidFill>
                  <a:srgbClr val="E8EFE1"/>
                </a:solidFill>
              </a:rPr>
              <a:t>충돌 시간 제거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6A6D3F-02E0-42C1-AD63-B10854A2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76875"/>
            <a:ext cx="11087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F6524"/>
                </a:solidFill>
              </a:defRPr>
            </a:pPr>
            <a:r>
              <a:rPr sz="1800" b="1">
                <a:solidFill>
                  <a:srgbClr val="8F6524"/>
                </a:solidFill>
              </a:rPr>
              <a:t>결과  |  충돌하지 않는 시간만 화면에 노출</a:t>
            </a:r>
          </a:p>
        </p:txBody>
      </p:sp>
    </p:spTree>
    <p:extLst>
      <p:ext uri="{BB962C8B-B14F-4D97-AF65-F5344CB8AC3E}">
        <p14:creationId xmlns:p14="http://schemas.microsoft.com/office/powerpoint/2010/main" val="20718847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373AB0-49C5-47D3-A862-F2F3F56B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F9270"/>
                </a:solidFill>
              </a:defRPr>
            </a:pPr>
            <a:r>
              <a:rPr sz="1050" b="1">
                <a:solidFill>
                  <a:srgbClr val="7F9270"/>
                </a:solidFill>
              </a:rPr>
              <a:t>MARINBOY SALON · FULL-STACK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5FFA25-76A3-4BF9-980B-2C9EBB61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3664C"/>
                </a:solidFill>
              </a:defRPr>
            </a:pPr>
            <a:r>
              <a:rPr sz="2850" b="1">
                <a:solidFill>
                  <a:srgbClr val="53664C"/>
                </a:solidFill>
              </a:rPr>
              <a:t>관리자는 예약과 운영 정보를 한 화면에서 관리합니다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B8EF09-6709-44C5-AE13-A7C92AC9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87100" cy="285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F92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6A07E1-793F-41FC-B2DE-282B0B1E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F786B"/>
                </a:solidFill>
              </a:defRPr>
            </a:pPr>
            <a:r>
              <a:rPr sz="975" b="1">
                <a:solidFill>
                  <a:srgbClr val="6F786B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424081-0013-48DB-A0AA-97C28F0D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F9270"/>
                </a:solidFill>
              </a:defRPr>
            </a:pPr>
            <a:r>
              <a:rPr sz="1725" b="1">
                <a:solidFill>
                  <a:srgbClr val="7F9270"/>
                </a:solidFill>
              </a:rPr>
              <a:t>ADMIN DASHBOARD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E65C32-BD3E-4ED8-A44E-FBDBDEF8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38375"/>
            <a:ext cx="333375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93227"/>
                </a:solidFill>
              </a:defRPr>
            </a:pPr>
            <a:r>
              <a:rPr sz="1425" b="0">
                <a:solidFill>
                  <a:srgbClr val="293227"/>
                </a:solidFill>
              </a:rPr>
              <a:t>• 예약 목록·상태·거절 처리</a:t>
            </a:r>
          </a:p>
          <a:p xmlns:a="http://schemas.openxmlformats.org/drawingml/2006/main">
            <a:pPr algn="l">
              <a:defRPr sz="1425" b="0">
                <a:solidFill>
                  <a:srgbClr val="293227"/>
                </a:solidFill>
              </a:defRPr>
            </a:pPr>
            <a:r>
              <a:rPr sz="1425" b="0">
                <a:solidFill>
                  <a:srgbClr val="293227"/>
                </a:solidFill>
              </a:rPr>
              <a:t>• 휴무일 등록·삭제</a:t>
            </a:r>
          </a:p>
          <a:p xmlns:a="http://schemas.openxmlformats.org/drawingml/2006/main">
            <a:pPr algn="l">
              <a:defRPr sz="1425" b="0">
                <a:solidFill>
                  <a:srgbClr val="293227"/>
                </a:solidFill>
              </a:defRPr>
            </a:pPr>
            <a:r>
              <a:rPr sz="1425" b="0">
                <a:solidFill>
                  <a:srgbClr val="293227"/>
                </a:solidFill>
              </a:rPr>
              <a:t>• 시술 메뉴 CRUD</a:t>
            </a:r>
          </a:p>
          <a:p xmlns:a="http://schemas.openxmlformats.org/drawingml/2006/main">
            <a:pPr algn="l">
              <a:defRPr sz="1425" b="0">
                <a:solidFill>
                  <a:srgbClr val="293227"/>
                </a:solidFill>
              </a:defRPr>
            </a:pPr>
            <a:r>
              <a:rPr sz="1425" b="0">
                <a:solidFill>
                  <a:srgbClr val="293227"/>
                </a:solidFill>
              </a:rPr>
              <a:t>• 대표·상세 이미지 관리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d29a6229a44e78"/>
          <a:srcRect xmlns:a="http://schemas.openxmlformats.org/drawingml/2006/main" l="3816" t="0" r="38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0" y="1666875"/>
            <a:ext cx="7429500" cy="4524375"/>
          </a:xfrm>
          <a:prstGeom xmlns:a="http://schemas.openxmlformats.org/drawingml/2006/main" prst="roundRect">
            <a:avLst>
              <a:gd name="adj" fmla="val 252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7BAD5B-B9BD-4871-AD6A-6705BC49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28650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F786B"/>
                </a:solidFill>
              </a:defRPr>
            </a:pPr>
            <a:r>
              <a:rPr sz="1050" b="1">
                <a:solidFill>
                  <a:srgbClr val="6F786B"/>
                </a:solidFill>
              </a:rPr>
              <a:t>수정 후 실행 화면 · 관리자 대시보드</a:t>
            </a:r>
          </a:p>
        </p:txBody>
      </p:sp>
    </p:spTree>
    <p:extLst>
      <p:ext uri="{BB962C8B-B14F-4D97-AF65-F5344CB8AC3E}">
        <p14:creationId xmlns:p14="http://schemas.microsoft.com/office/powerpoint/2010/main" val="15164820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FA5008-ECE3-411C-BCBA-BA52D996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F9270"/>
                </a:solidFill>
              </a:defRPr>
            </a:pPr>
            <a:r>
              <a:rPr sz="1050" b="1">
                <a:solidFill>
                  <a:srgbClr val="7F9270"/>
                </a:solidFill>
              </a:rPr>
              <a:t>MARINBOY SALON · FULL-STACK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16082F-318D-45CA-BC27-BAD5265D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3664C"/>
                </a:solidFill>
              </a:defRPr>
            </a:pPr>
            <a:r>
              <a:rPr sz="2850" b="1">
                <a:solidFill>
                  <a:srgbClr val="53664C"/>
                </a:solidFill>
              </a:rPr>
              <a:t>도메인 문제를 서버 규칙으로 해결했습니다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7EFB95-FA51-4A5D-A845-70877F6A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87100" cy="285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F92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753BE7-9066-4431-8251-DC6FE219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F786B"/>
                </a:solidFill>
              </a:defRPr>
            </a:pPr>
            <a:r>
              <a:rPr sz="975" b="1">
                <a:solidFill>
                  <a:srgbClr val="6F786B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3F7FE7-34E6-441A-835D-63E08897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3429000" cy="3238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EF9"/>
          </a:solidFill>
          <a:ln xmlns:a="http://schemas.openxmlformats.org/drawingml/2006/main" w="9525">
            <a:solidFill>
              <a:srgbClr val="D5DD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F2C007-241E-4CD8-8201-A52FE4D9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34290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F92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881756-0F00-48C1-AA99-11CBC7EC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288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3664C"/>
                </a:solidFill>
              </a:defRPr>
            </a:pPr>
            <a:r>
              <a:rPr sz="1875" b="1">
                <a:solidFill>
                  <a:srgbClr val="53664C"/>
                </a:solidFill>
              </a:rPr>
              <a:t>중복 예약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BC01D4-5676-4D07-B943-FA3AFB92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90875"/>
            <a:ext cx="2809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86B"/>
                </a:solidFill>
              </a:defRPr>
            </a:pPr>
            <a:r>
              <a:rPr sz="1350" b="0">
                <a:solidFill>
                  <a:srgbClr val="6F786B"/>
                </a:solidFill>
              </a:rPr>
              <a:t>기존 예약의 시작·종료 시간과 신규 시술 시간을 교차 비교해 충돌을 차단했습니다.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EAFF3E-B789-4C5E-B2C9-9CA9826A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05000"/>
            <a:ext cx="3429000" cy="3238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EF9"/>
          </a:solidFill>
          <a:ln xmlns:a="http://schemas.openxmlformats.org/drawingml/2006/main" w="9525">
            <a:solidFill>
              <a:srgbClr val="D5DD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0E17DD-DE61-4A6E-A381-B3DE4464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05000"/>
            <a:ext cx="34290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F65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F4541E-C1A7-4ACB-90BC-7674D6F6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288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3664C"/>
                </a:solidFill>
              </a:defRPr>
            </a:pPr>
            <a:r>
              <a:rPr sz="1875" b="1">
                <a:solidFill>
                  <a:srgbClr val="53664C"/>
                </a:solidFill>
              </a:rPr>
              <a:t>권한 분리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ED6248-4834-4335-92C6-6D9E6595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90875"/>
            <a:ext cx="2809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86B"/>
                </a:solidFill>
              </a:defRPr>
            </a:pPr>
            <a:r>
              <a:rPr sz="1350" b="0">
                <a:solidFill>
                  <a:srgbClr val="6F786B"/>
                </a:solidFill>
              </a:rPr>
              <a:t>고객은 본인 예약만, 관리자는 운영 API만 접근하도록 세션 역할을 검사했습니다.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C1CCA7-6B26-473B-B549-2A6EEA02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05000"/>
            <a:ext cx="3429000" cy="3238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EF9"/>
          </a:solidFill>
          <a:ln xmlns:a="http://schemas.openxmlformats.org/drawingml/2006/main" w="9525">
            <a:solidFill>
              <a:srgbClr val="D5DD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7C9799-AAC5-4E84-BE49-0A0909A7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05000"/>
            <a:ext cx="34290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366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25DA24-16D6-493B-9AD1-70E7BDAB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288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3664C"/>
                </a:solidFill>
              </a:defRPr>
            </a:pPr>
            <a:r>
              <a:rPr sz="1875" b="1">
                <a:solidFill>
                  <a:srgbClr val="53664C"/>
                </a:solidFill>
              </a:rPr>
              <a:t>실제 운영 반영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29A70C-5010-41C8-81A7-B78ECAEB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90875"/>
            <a:ext cx="2809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86B"/>
                </a:solidFill>
              </a:defRPr>
            </a:pPr>
            <a:r>
              <a:rPr sz="1350" b="0">
                <a:solidFill>
                  <a:srgbClr val="6F786B"/>
                </a:solidFill>
              </a:rPr>
              <a:t>영업시간과 휴무일을 슬롯 계산에 반영해 현실적인 예약 시간을 제공합니다.</a:t>
            </a:r>
          </a:p>
        </p:txBody>
      </p:sp>
    </p:spTree>
    <p:extLst>
      <p:ext uri="{BB962C8B-B14F-4D97-AF65-F5344CB8AC3E}">
        <p14:creationId xmlns:p14="http://schemas.microsoft.com/office/powerpoint/2010/main" val="1579592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7188A4-D2EC-4ECD-A13A-0440BD35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F9270"/>
                </a:solidFill>
              </a:defRPr>
            </a:pPr>
            <a:r>
              <a:rPr sz="1050" b="1">
                <a:solidFill>
                  <a:srgbClr val="7F9270"/>
                </a:solidFill>
              </a:rPr>
              <a:t>MARINBOY SALON · FULL-STACK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A302F0-B4BF-487E-9460-22489F34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3664C"/>
                </a:solidFill>
              </a:defRPr>
            </a:pPr>
            <a:r>
              <a:rPr sz="2850" b="1">
                <a:solidFill>
                  <a:srgbClr val="53664C"/>
                </a:solidFill>
              </a:rPr>
              <a:t>핵심 기능을 실제 운영 흐름까지 확장했습니다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CD9403-F21B-407D-8603-3D01C8D7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87100" cy="285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F92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65E083-B774-446D-9BBA-EFC38F05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F786B"/>
                </a:solidFill>
              </a:defRPr>
            </a:pPr>
            <a:r>
              <a:rPr sz="975" b="1">
                <a:solidFill>
                  <a:srgbClr val="6F786B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7FDA30-3EAC-4530-8981-8371E4BB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5143500" cy="1524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EF9"/>
          </a:solidFill>
          <a:ln xmlns:a="http://schemas.openxmlformats.org/drawingml/2006/main" w="9525">
            <a:solidFill>
              <a:srgbClr val="D5DD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4B7AD8-711D-4420-BD90-0FB57337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F9270"/>
                </a:solidFill>
              </a:defRPr>
            </a:pPr>
            <a:r>
              <a:rPr sz="1725" b="1">
                <a:solidFill>
                  <a:srgbClr val="7F9270"/>
                </a:solidFill>
              </a:rPr>
              <a:t>고객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A21FD0-71FE-45D3-9FD6-9A47CA66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4524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93227"/>
                </a:solidFill>
              </a:defRPr>
            </a:pPr>
            <a:r>
              <a:rPr sz="1425" b="0">
                <a:solidFill>
                  <a:srgbClr val="293227"/>
                </a:solidFill>
              </a:rPr>
              <a:t>시술 조회 · 예약 CRUD · 이용 내역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FA0E57-576F-45ED-935A-C3FF03C3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5143500" cy="1524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EF9"/>
          </a:solidFill>
          <a:ln xmlns:a="http://schemas.openxmlformats.org/drawingml/2006/main" w="9525">
            <a:solidFill>
              <a:srgbClr val="D5DD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FDA9B1-169F-4ACD-A9EC-5BB083AF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F9270"/>
                </a:solidFill>
              </a:defRPr>
            </a:pPr>
            <a:r>
              <a:rPr sz="1725" b="1">
                <a:solidFill>
                  <a:srgbClr val="7F9270"/>
                </a:solidFill>
              </a:rPr>
              <a:t>인증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A74E15-321D-4B7A-81AB-229782FC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52700"/>
            <a:ext cx="4524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93227"/>
                </a:solidFill>
              </a:defRPr>
            </a:pPr>
            <a:r>
              <a:rPr sz="1425" b="0">
                <a:solidFill>
                  <a:srgbClr val="293227"/>
                </a:solidFill>
              </a:rPr>
              <a:t>세션 · Kakao OAuth2 · 역할 검사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25040A-60CC-4712-B7B7-2EA99BC2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5143500" cy="1524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EF9"/>
          </a:solidFill>
          <a:ln xmlns:a="http://schemas.openxmlformats.org/drawingml/2006/main" w="9525">
            <a:solidFill>
              <a:srgbClr val="D5DDC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38A112-9C04-4DDD-89F7-46D76466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52875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F9270"/>
                </a:solidFill>
              </a:defRPr>
            </a:pPr>
            <a:r>
              <a:rPr sz="1725" b="1">
                <a:solidFill>
                  <a:srgbClr val="7F9270"/>
                </a:solidFill>
              </a:rPr>
              <a:t>관리자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EF2E5F-6318-469E-B1C8-9101FC47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57700"/>
            <a:ext cx="4524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93227"/>
                </a:solidFill>
              </a:defRPr>
            </a:pPr>
            <a:r>
              <a:rPr sz="1425" b="0">
                <a:solidFill>
                  <a:srgbClr val="293227"/>
                </a:solidFill>
              </a:rPr>
              <a:t>예약 · 휴무일 · 메뉴 · 이미지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60AA48-9F3A-4CBB-A4AC-5E24A3D2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5143500" cy="1524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366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F9D1F4-A5B2-4135-93BE-0DDAB028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52875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FE6D4"/>
                </a:solidFill>
              </a:defRPr>
            </a:pPr>
            <a:r>
              <a:rPr sz="1725" b="1">
                <a:solidFill>
                  <a:srgbClr val="DFE6D4"/>
                </a:solidFill>
              </a:rPr>
              <a:t>품질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CEB2F6-C732-4C2B-A1D1-13C2FCD7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57700"/>
            <a:ext cx="4524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예외 표준화 · 마스킹 · 검증</a:t>
            </a:r>
          </a:p>
        </p:txBody>
      </p:sp>
    </p:spTree>
    <p:extLst>
      <p:ext uri="{BB962C8B-B14F-4D97-AF65-F5344CB8AC3E}">
        <p14:creationId xmlns:p14="http://schemas.microsoft.com/office/powerpoint/2010/main" val="13858424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321155-F51B-468A-849E-F1823BD3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F9270"/>
                </a:solidFill>
              </a:defRPr>
            </a:pPr>
            <a:r>
              <a:rPr sz="1050" b="1">
                <a:solidFill>
                  <a:srgbClr val="7F9270"/>
                </a:solidFill>
              </a:rPr>
              <a:t>MARINBOY SALON · FULL-STACK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767F16-BE3D-4EE3-A958-B3820BC6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3664C"/>
                </a:solidFill>
              </a:defRPr>
            </a:pPr>
            <a:r>
              <a:rPr sz="2850" b="1">
                <a:solidFill>
                  <a:srgbClr val="53664C"/>
                </a:solidFill>
              </a:rPr>
              <a:t>화면·API·DB를 연결한 풀스택 경험을 완성했습니다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EA6D93-7D03-4F3B-A01A-A3F75FC0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87100" cy="285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F92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2A36C7-DEC7-4648-8A42-61E7AFF7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F786B"/>
                </a:solidFill>
              </a:defRPr>
            </a:pPr>
            <a:r>
              <a:rPr sz="975" b="1">
                <a:solidFill>
                  <a:srgbClr val="6F786B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0CB99F-F58F-43A1-AEA4-222A3D8B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11087100" cy="1666875"/>
          </a:xfrm>
          <a:prstGeom xmlns:a="http://schemas.openxmlformats.org/drawingml/2006/main" prst="roundRect">
            <a:avLst>
              <a:gd name="adj" fmla="val 14857"/>
            </a:avLst>
          </a:prstGeom>
          <a:solidFill xmlns:a="http://schemas.openxmlformats.org/drawingml/2006/main">
            <a:srgbClr val="5366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9C5D8A-6453-4003-96A8-E841847B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10191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단순 CRUD를 넘어 시간 충돌·권한·휴무일이라는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실제 예약 도메인 규칙을 구현했습니다.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AB18ED-753E-4C04-BF05-CAACE2E2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3429000" cy="166687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EF9"/>
          </a:solidFill>
          <a:ln xmlns:a="http://schemas.openxmlformats.org/drawingml/2006/main" w="9525">
            <a:solidFill>
              <a:srgbClr val="D5DD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E50622-F58C-4C19-BB0D-B20D0FAB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433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F9270"/>
                </a:solidFill>
              </a:defRPr>
            </a:pPr>
            <a:r>
              <a:rPr sz="1575" b="1">
                <a:solidFill>
                  <a:srgbClr val="7F9270"/>
                </a:solidFill>
              </a:rPr>
              <a:t>현재 성과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BA7D12-4B26-4B20-BF6D-309A971F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19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93227"/>
                </a:solidFill>
              </a:defRPr>
            </a:pPr>
            <a:r>
              <a:rPr sz="1500" b="1">
                <a:solidFill>
                  <a:srgbClr val="293227"/>
                </a:solidFill>
              </a:rPr>
              <a:t>고객과 운영자의</a:t>
            </a:r>
          </a:p>
          <a:p xmlns:a="http://schemas.openxmlformats.org/drawingml/2006/main">
            <a:pPr algn="l">
              <a:defRPr sz="1500" b="1">
                <a:solidFill>
                  <a:srgbClr val="293227"/>
                </a:solidFill>
              </a:defRPr>
            </a:pPr>
            <a:r>
              <a:rPr sz="1500" b="1">
                <a:solidFill>
                  <a:srgbClr val="293227"/>
                </a:solidFill>
              </a:rPr>
              <a:t>예약 흐름 완성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8F40C3-FD09-49CD-8E5E-045C497C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05250"/>
            <a:ext cx="3429000" cy="166687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EF9"/>
          </a:solidFill>
          <a:ln xmlns:a="http://schemas.openxmlformats.org/drawingml/2006/main" w="9525">
            <a:solidFill>
              <a:srgbClr val="D5DD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7A89C8-62F6-488A-8AC8-1C0CBF19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433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F9270"/>
                </a:solidFill>
              </a:defRPr>
            </a:pPr>
            <a:r>
              <a:rPr sz="1575" b="1">
                <a:solidFill>
                  <a:srgbClr val="7F9270"/>
                </a:solidFill>
              </a:rPr>
              <a:t>다음 개선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E13323-8F53-449A-8229-6333D311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619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93227"/>
                </a:solidFill>
              </a:defRPr>
            </a:pPr>
            <a:r>
              <a:rPr sz="1500" b="1">
                <a:solidFill>
                  <a:srgbClr val="293227"/>
                </a:solidFill>
              </a:rPr>
              <a:t>자동화 테스트와</a:t>
            </a:r>
          </a:p>
          <a:p xmlns:a="http://schemas.openxmlformats.org/drawingml/2006/main">
            <a:pPr algn="l">
              <a:defRPr sz="1500" b="1">
                <a:solidFill>
                  <a:srgbClr val="293227"/>
                </a:solidFill>
              </a:defRPr>
            </a:pPr>
            <a:r>
              <a:rPr sz="1500" b="1">
                <a:solidFill>
                  <a:srgbClr val="293227"/>
                </a:solidFill>
              </a:rPr>
              <a:t>CI/CD 구축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FA846D-4298-4AE5-B820-2E9F19B7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05250"/>
            <a:ext cx="3429000" cy="166687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EF9"/>
          </a:solidFill>
          <a:ln xmlns:a="http://schemas.openxmlformats.org/drawingml/2006/main" w="9525">
            <a:solidFill>
              <a:srgbClr val="D5DD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ADF320-117A-4768-8ECA-20034022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433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F9270"/>
                </a:solidFill>
              </a:defRPr>
            </a:pPr>
            <a:r>
              <a:rPr sz="1575" b="1">
                <a:solidFill>
                  <a:srgbClr val="7F9270"/>
                </a:solidFill>
              </a:rPr>
              <a:t>확장 방향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739148-8A01-42C9-A025-516896E9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19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93227"/>
                </a:solidFill>
              </a:defRPr>
            </a:pPr>
            <a:r>
              <a:rPr sz="1500" b="1">
                <a:solidFill>
                  <a:srgbClr val="293227"/>
                </a:solidFill>
              </a:rPr>
              <a:t>알림 연동과</a:t>
            </a:r>
          </a:p>
          <a:p xmlns:a="http://schemas.openxmlformats.org/drawingml/2006/main">
            <a:pPr algn="l">
              <a:defRPr sz="1500" b="1">
                <a:solidFill>
                  <a:srgbClr val="293227"/>
                </a:solidFill>
              </a:defRPr>
            </a:pPr>
            <a:r>
              <a:rPr sz="1500" b="1">
                <a:solidFill>
                  <a:srgbClr val="293227"/>
                </a:solidFill>
              </a:rPr>
              <a:t>통계 대시보드</a:t>
            </a:r>
          </a:p>
        </p:txBody>
      </p:sp>
    </p:spTree>
    <p:extLst>
      <p:ext uri="{BB962C8B-B14F-4D97-AF65-F5344CB8AC3E}">
        <p14:creationId xmlns:p14="http://schemas.microsoft.com/office/powerpoint/2010/main" val="20592732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53664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2C6FD8-11BE-4EBB-9D69-28CA447C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1038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75" b="1">
                <a:solidFill>
                  <a:srgbClr val="FFFFFF"/>
                </a:solidFill>
              </a:defRPr>
            </a:pPr>
            <a:r>
              <a:rPr sz="3075" b="1">
                <a:solidFill>
                  <a:srgbClr val="FFFFFF"/>
                </a:solidFill>
              </a:rPr>
              <a:t>마린보이는 예약 화면이 아니라,</a:t>
            </a:r>
          </a:p>
          <a:p xmlns:a="http://schemas.openxmlformats.org/drawingml/2006/main">
            <a:pPr algn="ctr">
              <a:defRPr sz="3075" b="1">
                <a:solidFill>
                  <a:srgbClr val="FFFFFF"/>
                </a:solidFill>
              </a:defRPr>
            </a:pPr>
            <a:r>
              <a:rPr sz="3075" b="1">
                <a:solidFill>
                  <a:srgbClr val="FFFFFF"/>
                </a:solidFill>
              </a:rPr>
              <a:t>고객과 운영자를 연결하는 시스템입니다.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6D273A-2497-4666-AC4C-84E002B1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910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FE6D4"/>
                </a:solidFill>
              </a:defRPr>
            </a:pPr>
            <a:r>
              <a:rPr sz="1650" b="1">
                <a:solidFill>
                  <a:srgbClr val="DFE6D4"/>
                </a:solidFill>
              </a:rPr>
              <a:t>THANK YOU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89A005-5881-4333-9F82-9B741C5F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530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8EFE1"/>
                </a:solidFill>
              </a:defRPr>
            </a:pPr>
            <a:r>
              <a:rPr sz="1275" b="1">
                <a:solidFill>
                  <a:srgbClr val="E8EFE1"/>
                </a:solidFill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17829996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2026-07-20T04:20:45.0430000Z</dcterms:created>
  <dcterms:modified xsi:type="dcterms:W3CDTF">2026-07-20T04:20:45.0430000Z</dcterms:modified>
</coreProperties>
</file>