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커밋</c:v>
                </c:pt>
              </c:strCache>
            </c:strRef>
          </c:tx>
          <c:spPr>
            <a:solidFill>
              <a:srgbClr val="8A63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8/12</c:v>
                  </c:pt>
                  <c:pt idx="1">
                    <c:v>8/14</c:v>
                  </c:pt>
                  <c:pt idx="2">
                    <c:v>8/18</c:v>
                  </c:pt>
                  <c:pt idx="3">
                    <c:v>8/19</c:v>
                  </c:pt>
                  <c:pt idx="4">
                    <c:v>8/20</c:v>
                  </c:pt>
                  <c:pt idx="5">
                    <c:v>8/21</c:v>
                  </c:pt>
                  <c:pt idx="6">
                    <c:v>8/24</c:v>
                  </c:pt>
                  <c:pt idx="7">
                    <c:v>8/25</c:v>
                  </c:pt>
                  <c:pt idx="8">
                    <c:v>8/28</c:v>
                  </c:pt>
                  <c:pt idx="9">
                    <c:v>8/29</c:v>
                  </c:pt>
                  <c:pt idx="10">
                    <c:v>8/31</c:v>
                  </c:pt>
                  <c:pt idx="11">
                    <c:v>9/07</c:v>
                  </c:pt>
                  <c:pt idx="12">
                    <c:v>9/08</c:v>
                  </c:pt>
                  <c:pt idx="13">
                    <c:v>9/09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  <c:pt idx="5">
                  <c:v>11</c:v>
                </c:pt>
                <c:pt idx="6">
                  <c:v>10</c:v>
                </c:pt>
                <c:pt idx="7">
                  <c:v>6</c:v>
                </c:pt>
                <c:pt idx="8">
                  <c:v>22</c:v>
                </c:pt>
                <c:pt idx="9">
                  <c:v>2</c:v>
                </c:pt>
                <c:pt idx="10">
                  <c:v>10</c:v>
                </c:pt>
                <c:pt idx="11">
                  <c:v>8</c:v>
                </c:pt>
                <c:pt idx="12">
                  <c:v>17</c:v>
                </c:pt>
                <c:pt idx="1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66D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DD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66D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MarinboySalon_v3 README.md and frontend global.css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project 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back/build.gradle; front/package.json;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git log --all --date=short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front/styles/global.css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docs/images/portfolio/home.png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docs/images/portfolio/popular-menu.png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docs/images/portfolio/services.png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AuthController, ReservationController, ServiceItemController, ReviewController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AdminReservationController, AdminServiceItemController, AdminUserController, AdminCalendarController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database/schema.sql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database/schema.sql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ReservationServiceImpl.java validateSchedule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verification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README.md, SecurityConfig.java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GoogleCalendarReservationListener.java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git log --all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validation results dated 2026-09-08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based on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91440"/>
            <a:ext cx="4572000" cy="4572000"/>
          </a:xfrm>
          <a:prstGeom prst="arc">
            <a:avLst/>
          </a:prstGeom>
          <a:noFill/>
          <a:ln w="19050">
            <a:solidFill>
              <a:srgbClr val="D7B59C">
                <a:alpha val="7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1078992"/>
            <a:ext cx="6858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8F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MARINBOY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8F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SALON v3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731520" y="29077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흐름을 중심으로 설계한 미용실 웹 서비스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4681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B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프로젝트  |  Spring Boot REST API + Next.js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B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소개부터 구현 근거와 회고까지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26280" y="16002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6420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2628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구현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6420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· MVC · DB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3872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4005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코드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26280" y="347472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53872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4005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· 검증 · 회고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4173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563624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77824" y="1892808"/>
            <a:ext cx="3145536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미용실 예약은 고객의 선택 과정과 관리자의 일정 관리가 분리되기 쉽습니다. 중복 예약과 운영 누락을 줄이는 흐름을 목표로 정했습니다.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70832" y="14173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563624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35424" y="1892808"/>
            <a:ext cx="3145536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탐색부터 시간 선택, 예약 생성, 관리자 상태 처리까지 REST API로 연결했습니다.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28432" y="14173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3024" y="1563624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93024" y="1892808"/>
            <a:ext cx="3145536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고객과 관리자입니다. 고객은 예약을 완료하고, 관리자는 예약·메뉴·고객 정보를 운영합니다.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방향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흐름과 관리자 운영을 하나의 서비스로 연결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76656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탐색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가격을 비교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선택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시간만 표시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64024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확정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중복을 서버에서 재검사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22008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처리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변경과 일정 연동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기준: 화면에서 선택한 시간만 믿지 않고, 저장 직전에 다시 확인합니다.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 역할 분담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배포 검증까지 전담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04672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65506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디자인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9264" y="1984248"/>
            <a:ext cx="291693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사용자 흐름 정의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색상과 화면 구성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고객·관리자 페이지 설계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65506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1984248"/>
            <a:ext cx="291693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화면 구현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Redux-Saga 상태 흐름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Axios 기반 API 연결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56448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5506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데이터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1984248"/>
            <a:ext cx="291693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REST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 · MySQL 설계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· Redis · Calendar 연동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517904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96112" y="1847088"/>
            <a:ext cx="483717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Redux-Saga · Axios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Bootstrap 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517904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28232" y="1847088"/>
            <a:ext cx="483717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17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849624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Infra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178808"/>
            <a:ext cx="483717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· AWS EC2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7033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849624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 · 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4178808"/>
            <a:ext cx="483717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2.0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JUnit · Jest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작업 일정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커밋 날짜를 기준으로 정리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10241280" cy="0"/>
          </a:xfrm>
          <a:prstGeom prst="line">
            <a:avLst/>
          </a:prstGeom>
          <a:noFill/>
          <a:ln w="25400">
            <a:solidFill>
              <a:srgbClr val="8A6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026664"/>
            <a:ext cx="347472" cy="347472"/>
          </a:xfrm>
          <a:prstGeom prst="ellipse">
            <a:avLst/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3026664"/>
            <a:ext cx="347472" cy="347472"/>
          </a:xfrm>
          <a:prstGeom prst="ellipse">
            <a:avLst/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0552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기능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61104" y="3026664"/>
            <a:ext cx="347472" cy="347472"/>
          </a:xfrm>
          <a:prstGeom prst="ellipse">
            <a:avLst/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58184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인증·OAuth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88736" y="3026664"/>
            <a:ext cx="347472" cy="347472"/>
          </a:xfrm>
          <a:prstGeom prst="ellipse">
            <a:avLst/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85816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기능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16368" y="3026664"/>
            <a:ext cx="347472" cy="347472"/>
          </a:xfrm>
          <a:prstGeom prst="ellipse">
            <a:avLst/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3488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13448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구현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3026664"/>
            <a:ext cx="347472" cy="347472"/>
          </a:xfrm>
          <a:prstGeom prst="ellipse">
            <a:avLst/>
          </a:prstGeom>
          <a:solidFill>
            <a:srgbClr val="9BAD8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41080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771632" y="3026664"/>
            <a:ext cx="347472" cy="347472"/>
          </a:xfrm>
          <a:prstGeom prst="ellipse">
            <a:avLst/>
          </a:prstGeom>
          <a:solidFill>
            <a:srgbClr val="8A633F"/>
          </a:solidFill>
          <a:ln w="12700">
            <a:solidFill>
              <a:srgbClr val="8A63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88752" y="251460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68712" y="3611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보완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설계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색상과 읽기 쉬운 예약 화면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8F5EF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706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#F8F5EF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898648" y="150876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FFDFA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8648" y="27706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98648" y="3017520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#FFFDFA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0056" y="150876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8A633F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27706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0056" y="3017520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#8A633F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41464" y="150876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5C3D24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1464" y="27706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41464" y="3017520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#5C3D24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62872" y="150876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D7B59C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27706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62872" y="3017520"/>
            <a:ext cx="1664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#D7B59C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2960" y="37673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913632"/>
            <a:ext cx="4654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4242816"/>
            <a:ext cx="4654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Playfair Display 계열, 본문은 Noto Sans KR 계열을 사용합니다.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767328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913632"/>
            <a:ext cx="4654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4242816"/>
            <a:ext cx="4654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 중심의 넓은 예약·관리 화면을 구성하고, 모바일 화면에서도 흐름을 유지합니다.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프론트엔드와 백엔드를 분리한 REST API 구조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76656" y="237744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2374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85292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고객·관리자 화면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295351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37744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52374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85292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Redux-Saga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64024" y="295351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237744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52374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285292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· MyBatis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22008" y="295351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237744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52374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/ Redis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85292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인증 상태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9992" y="295351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08592" y="237744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52374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73184" y="285292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일정 연동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예약으로 이어지는 브랜드 첫 화면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2688" y="1188720"/>
            <a:ext cx="10287000" cy="4773168"/>
          </a:xfrm>
          <a:prstGeom prst="roundRect">
            <a:avLst>
              <a:gd name="adj" fmla="val 1533"/>
            </a:avLst>
          </a:prstGeom>
          <a:solidFill>
            <a:srgbClr val="FFFDFA"/>
          </a:solidFill>
          <a:ln w="12700">
            <a:solidFill>
              <a:srgbClr val="E5DDD2"/>
            </a:solidFill>
            <a:prstDash val="solid"/>
          </a:ln>
        </p:spPr>
      </p:sp>
      <p:pic>
        <p:nvPicPr>
          <p:cNvPr id="5" name="Image 0" descr="C:\marinboySalon\MarinboySalon_v3\docs\images\portfolio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335024"/>
            <a:ext cx="9994392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시술 메뉴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메뉴를 비교하고 상세 페이지로 이동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2688" y="1188720"/>
            <a:ext cx="10287000" cy="4773168"/>
          </a:xfrm>
          <a:prstGeom prst="roundRect">
            <a:avLst>
              <a:gd name="adj" fmla="val 1533"/>
            </a:avLst>
          </a:prstGeom>
          <a:solidFill>
            <a:srgbClr val="FFFDFA"/>
          </a:solidFill>
          <a:ln w="12700">
            <a:solidFill>
              <a:srgbClr val="E5DDD2"/>
            </a:solidFill>
            <a:prstDash val="solid"/>
          </a:ln>
        </p:spPr>
      </p:sp>
      <p:pic>
        <p:nvPicPr>
          <p:cNvPr id="5" name="Image 0" descr="C:\marinboySalon\MarinboySalon_v3\docs\images\portfolio\popular-men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335024"/>
            <a:ext cx="9994392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아카이브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중심으로 시술 정보를 탐색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32688" y="1188720"/>
            <a:ext cx="10287000" cy="4773168"/>
          </a:xfrm>
          <a:prstGeom prst="roundRect">
            <a:avLst>
              <a:gd name="adj" fmla="val 1533"/>
            </a:avLst>
          </a:prstGeom>
          <a:solidFill>
            <a:srgbClr val="FFFDFA"/>
          </a:solidFill>
          <a:ln w="12700">
            <a:solidFill>
              <a:srgbClr val="E5DDD2"/>
            </a:solidFill>
            <a:prstDash val="solid"/>
          </a:ln>
        </p:spPr>
      </p:sp>
      <p:pic>
        <p:nvPicPr>
          <p:cNvPr id="5" name="Image 0" descr="C:\marinboySalon\MarinboySalon_v3\docs\images\portfolio\serv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992" y="1335024"/>
            <a:ext cx="9994392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예약 화면 흐름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76656" y="22860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4323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선택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7614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서비스와 소요 시간 선택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28620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22860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24323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선택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99232" y="27614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휴무일과 영업시간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64024" y="28620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92624" y="22860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24323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조회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57216" y="27614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가능한 30분 슬롯 표시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22008" y="28620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50608" y="22860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4323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요청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27614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사용자로 저장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79992" y="28620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08592" y="22860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4323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예약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73184" y="27614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조회·변경·취소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명세서 ① 고객 기능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작성한 Controller 매핑을 요약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25880"/>
          <a:ext cx="10698480" cy="448056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/api/service-items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/api/reservations/available-times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 시간 조회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/api/reservations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/api/reservations/my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예약 조회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/auth/login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로그인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/api/reviews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예약 후기 작성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명세서 ② 관리자 기능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/api/admin 경로는 Spring Security 권한으로 보호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25880"/>
          <a:ext cx="10698480" cy="448056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/api/admin/reservations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현황 조회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/api/admin/reservations/{id}/status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상태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/api/admin/service-items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메뉴 등록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/api/admin/service-items/images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시술 이미지 업로드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/api/admin/users/{id}/role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권한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/api/admin/calendar/connection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Calendar 연결 상태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MVC 설계 구조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도메인별 Controller · Service · Repository를 분리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499616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7824" y="1828800"/>
            <a:ext cx="48371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생성·변경·취소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ReservationController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ReservationServiceImpl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ReservationMapper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45352" y="1353312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499616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serviceitem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1828800"/>
            <a:ext cx="48371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메뉴 조회·관리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ServiceItemController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ServiceItemServiceImpl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ServiceItemMapper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3593592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739896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4069080"/>
            <a:ext cx="48371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로그인·JWT·OAuth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AuthController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AuthUserJwtService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SocialAccountMapper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5352" y="3593592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3739896"/>
            <a:ext cx="4837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9944" y="4069080"/>
            <a:ext cx="48371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일정 동기화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GoogleCalendarReservationListener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GoogleCalendarService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요청의 MVC 처리 흐름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76656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DTO 검증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99232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영업·휴무·중복 검사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64024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92624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Mapper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57216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 SQL 실행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22008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50608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데이터 저장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79992" y="288036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08592" y="230428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4505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73184" y="277977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결과 반환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① 예약 핵심 ERD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49808" y="14173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6362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user_account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92808"/>
            <a:ext cx="4791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email, role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1928" y="14173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56362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892808"/>
            <a:ext cx="4791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user_id, service_id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reservation_start, status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56616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1246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service_item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041648"/>
            <a:ext cx="4791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duration_minutes, active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1928" y="356616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71246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reservation_slot_lock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041648"/>
            <a:ext cx="4791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slot_time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56692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user_account 1 : N reservation      service_item 1 : N reservation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reservation_slot_lock은 같은 날짜·시간 슬롯의 동시 요청을 순서대로 처리합니다.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 ② 운영·연동 데이터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49808" y="13716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1790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47088"/>
            <a:ext cx="479145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reservation_id UNIQUE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예약당 후기 1회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1928" y="13716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51790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discount_event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847088"/>
            <a:ext cx="479145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기간별 할인율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예약에 값 복사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5478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94176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user_social_account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479145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제공자 계정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회원과 연결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1928" y="35478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694176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business_hour · holiday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023360"/>
            <a:ext cx="479145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영업시간과 임시 휴무일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실행 순서도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저장 후 DB 커밋이 끝난 시점에만 외부 Calendar를 호출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76656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037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요청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5328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/api/reservations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26334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2037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검증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5328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휴무·영업·중복 검사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64024" y="26334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2037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25328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REQUESTED 상태 저장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22008" y="26334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2037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AFTER_COMMIT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5328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발행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9992" y="263347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08592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2037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73184" y="253288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생성·ID 저장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3035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실패가 예약 DB 트랜잭션을 되돌리지 않도록 처리합니다.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 예약 중복 방지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화면에서 같은 시간을 선택해도 서버 저장 시점에는 겹칠 수 있습니다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2B241E"/>
          </a:solidFill>
          <a:ln w="12700">
            <a:solidFill>
              <a:srgbClr val="2B24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36192"/>
            <a:ext cx="5212080" cy="3922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lockReservationSlots(start, end);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overlap = reservationMapper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.countOverlapForUpdate(start, end, excludeId);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(overlap &gt; 0)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IllegalStateException(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"이미 예약된 시간과 겹칩니다."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839712" y="137160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04304" y="1517904"/>
            <a:ext cx="4059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04304" y="1847088"/>
            <a:ext cx="4059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날짜·30분 슬롯을 먼저 잠그고, 활성 예약과 겹치는 시간을 다시 검사합니다.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39712" y="283464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2980944"/>
            <a:ext cx="4059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04304" y="3310128"/>
            <a:ext cx="4059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슬롯 요청은 순서대로 처리하고, 서로 다른 슬롯은 동시에 처리합니다.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39712" y="429768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04304" y="4443984"/>
            <a:ext cx="4059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04304" y="4773168"/>
            <a:ext cx="4059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예약을 데이터 저장 직전에 차단합니다.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중복 방지 결과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검증에서 같은 슬롯은 대기, 다른 슬롯은 즉시 처리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76656" y="224028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8658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71576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예약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281635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24028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38658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잠금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71576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행 잠금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64024" y="281635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224028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38658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271576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10:00 대기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22008" y="281635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224028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38658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완료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71576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저장 후 B 재검사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9992" y="2816352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08592" y="224028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38658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73184" y="2715768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겹치면 오류 반환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기록: 같은 슬롯은 대기, 다른 슬롯은 즉시 처리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 인증과 권한 제어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고객과 관리자가 접근할 화면과 API가 다릅니다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76656" y="221284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591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68833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일반·OAuth 로그인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278892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21284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3591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발급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9232" y="268833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 / Refresh Token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64024" y="278892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221284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3591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268833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상태 관리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22008" y="278892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221284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3591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68833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/api/admin/** 권한 검사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9992" y="2788920"/>
            <a:ext cx="201168" cy="0"/>
          </a:xfrm>
          <a:prstGeom prst="line">
            <a:avLst/>
          </a:prstGeom>
          <a:noFill/>
          <a:ln w="17780">
            <a:solidFill>
              <a:srgbClr val="8A633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08592" y="2212848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3591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제어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73184" y="2688336"/>
            <a:ext cx="15727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페이지 접근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 Google Calendar 연동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예약 데이터와 관리자의 외부 일정을 함께 관리하기 위해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2B241E"/>
          </a:solidFill>
          <a:ln w="12700">
            <a:solidFill>
              <a:srgbClr val="2B24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17904"/>
            <a:ext cx="5303520" cy="4014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@TransactionalEventListener(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phase = TransactionPhase.AFTER_COMMIT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synchronizeCalendar(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GoogleCalendarReservationEvent event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GoogleCalendarService service =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googleCalendarService.getIfAvailable();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(service == null) return;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service.createReservationEvent(event);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F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876288" y="1371600"/>
            <a:ext cx="4315968" cy="1170432"/>
          </a:xfrm>
          <a:prstGeom prst="roundRect">
            <a:avLst>
              <a:gd name="adj" fmla="val 6250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517904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847088"/>
            <a:ext cx="39867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DB가 확정된 뒤 이벤트 리스너가 Calendar 일정 생성을 호출합니다.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76288" y="2907792"/>
            <a:ext cx="4315968" cy="1170432"/>
          </a:xfrm>
          <a:prstGeom prst="roundRect">
            <a:avLst>
              <a:gd name="adj" fmla="val 625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305409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3383280"/>
            <a:ext cx="39867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 실패 시 외부 일정이 먼저 생성되는 문제를 줄입니다.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76288" y="4443984"/>
            <a:ext cx="4315968" cy="1170432"/>
          </a:xfrm>
          <a:prstGeom prst="roundRect">
            <a:avLst>
              <a:gd name="adj" fmla="val 6250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90288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관리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4919472"/>
            <a:ext cx="39867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calendar_event_id를 저장해 변경·취소 때 일정을 정리합니다.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작업 이력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Git 로그 110건, 날짜별 커밋 수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04672" y="1325880"/>
          <a:ext cx="105613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68680" y="5833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작성자별 기록: Adam 82건, 장영탁 28건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테스트, API, 화면, 동시성, 관리자 경로를 확인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280160"/>
          <a:ext cx="10424160" cy="4526280"/>
        </p:xfrm>
        <a:graphic>
          <a:graphicData uri="http://schemas.openxmlformats.org/drawingml/2006/table">
            <a:tbl>
              <a:tblPr/>
              <a:tblGrid>
                <a:gridCol w="5212080"/>
                <a:gridCol w="52120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Backend test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suites / 26 tests 통과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Frontend test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 suites / 16 tests 통과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/actuator/health, /api/service-items 200 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· 시술 목록 · 예약 화면 200 OK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슬롯 대기, 다른 슬롯 즉시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경로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접근 시 로그인 화면으로 이동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회고 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Keep: 유지할 개발 방식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4754880" cy="3611880"/>
          </a:xfrm>
          <a:prstGeom prst="roundRect">
            <a:avLst>
              <a:gd name="adj" fmla="val 2025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563624"/>
            <a:ext cx="4425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기준 재검증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892808"/>
            <a:ext cx="442569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가능 시간은 화면에서 먼저 보여주고, 서버에서는 저장 직전에 영업시간·휴무·중복을 다시 검사했습니다.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방식은 화면 상태가 늦게 갱신되거나 동시 요청이 발생해도 예약 데이터의 기준을 서버가 유지하게 합니다.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28232" y="1417320"/>
            <a:ext cx="4754880" cy="3611880"/>
          </a:xfrm>
          <a:prstGeom prst="roundRect">
            <a:avLst>
              <a:gd name="adj" fmla="val 2025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2824" y="1563624"/>
            <a:ext cx="4425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중심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92824" y="1892808"/>
            <a:ext cx="442569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통과만으로 끝내지 않고 API 응답, 화면 진입, 관리자 경로, 동시성 동작을 구분해 확인했습니다.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회고 P · 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D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보완할 한 가지 주제: 외부 연동 실패의 운영 관찰성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41248" y="141732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F1E9DF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63624"/>
            <a:ext cx="4745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P: 현재 한계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892808"/>
            <a:ext cx="474573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 일정 생성 실패는 예약 DB를 되돌리지 않습니다. 예약은 남지만 외부 일정이 누락될 수 있어 관리자가 즉시 알아차리기 어렵습니다.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FFFDFA"/>
          </a:solidFill>
          <a:ln w="10160">
            <a:solidFill>
              <a:srgbClr val="E5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563624"/>
            <a:ext cx="4745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T: 다음 개선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28232" y="1892808"/>
            <a:ext cx="474573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B2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이벤트를 별도 테이블에 기록하고 재시도 큐를 둡니다. 관리자 화면에서 실패 상태와 재처리 결과를 확인하도록 확장합니다.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21240" y="64465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66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MarinboySalon v3  |  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5C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463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MARINBOY SALON v3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4672" y="2514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고객에게는 단순한 예약 흐름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F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서버에는 중복을 다시 확인하는 안전한 저장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53492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B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API + Next.js + MySQL + Redis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5897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5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MarinboySalon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MarinboySalon v3</dc:title>
  <dc:subject>MarinboySalon v3 개인 프로젝트 발표 자료</dc:subject>
  <dc:creator>MarinboySalon</dc:creator>
  <cp:lastModifiedBy>MarinboySalon</cp:lastModifiedBy>
  <cp:revision>1</cp:revision>
  <dcterms:created xsi:type="dcterms:W3CDTF">2026-09-10T02:09:48Z</dcterms:created>
  <dcterms:modified xsi:type="dcterms:W3CDTF">2026-09-10T02:09:48Z</dcterms:modified>
</cp:coreProperties>
</file>