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안녕하세요. 고객 예약부터 관리자 운영까지 연결한 살롱 예약 플랫폼, Marinboy Salon V3를 소개하겠습니다. 단순 예약 화면이 아니라, 시간 기반 예약의 오류를 서버에서 안전하게 막고 운영까지 연결하는 데 집중한 개인 풀스택 프로젝트입니다.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살롱 예약에서 가장 중요한 문제는 고객이 예약하기 편해야 하지만, 동시에 중복 예약이나 휴무일 예약이 절대 저장되면 안 된다는 점입니다. 그래서 고객에게는 가능한 시간만 보여 주고, 서버는 저장 직전에 조건을 다시 검증하도록 설계했습니다.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고객은 메뉴 탐색, 예약, 내 예약, 후기 기능을 사용합니다. 관리자는 예약 상태, 휴무일, 서비스 이미지, 사용자, Calendar 연동을 관리합니다. 핵심은 고객 화면의 선택을 서버 검증과 관리자 운영 흐름까지 연결했다는 점입니다.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프런트는 Next.js로 고객과 관리자 화면을 구성했고, Redux Saga로 화면 상태와 비동기 요청을 관리했습니다. 백엔드는 Spring Boot REST API이며, MyBatis와 MySQL로 데이터를 처리합니다. JWT와 Redis는 로그인 인증과 토큰 관리에 사용했습니다.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첫 화면에서는 살롱의 분위기를 보여 주는 이미지와 함께 카테고리, 인기 시술, 예약 버튼을 연결했습니다. 사용자가 여러 화면을 헤매지 않고 메뉴 탐색에서 예약까지 빠르게 이동하도록 구성했습니다.</a:t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메뉴에는 이미지뿐 아니라 가격과 예상 소요 시간을 함께 제공합니다. 고객은 시술 내용을 이해한 뒤 바로 예약으로 이동할 수 있고, 관리자는 여러 장의 이미지를 등록해 메뉴 정보를 관리할 수 있습니다.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예약은 시술 선택, 날짜 선택, 가능한 시간 계산, 예약 저장 순서로 진행됩니다. 여기서 중요한 점은 날짜와 시술이 정해진 뒤에만 실제 가능한 시간이 계산된다는 것입니다.</a:t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프로젝트에서 가장 강조하고 싶은 부분입니다. 화면에서 시간을 숨기는 것만으로는 부족합니다. 사용자가 화면을 우회하거나 동시에 여러 예약 요청이 들어올 수 있기 때문입니다. 그래서 서버가 저장 직전에 과거 시간, 정기·임시 휴무일, 시술 종료 가능 시간, 기존 예약과의 겹침을 순서대로 다시 검사합니다. 즉, 편의성은 화면에서 제공하고, 정확성은 서버가 보장하도록 역할을 나눴습니다.</a:t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Google, Naver, Kakao 소셜 로그인을 지원합니다. Access Token은 API 요청 인증에 사용하고, Refresh Token은 JavaScript가 읽을 수 없는 HttpOnly Cookie로 관리했습니다. 또한 Redis에는 Refresh Token과 OAuth 요청 상태를 저장해 인증 흐름을 분리했습니다.</a:t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관리자는 예약 상태를 요청, 확정, 완료, 취소 단계로 관리하고, 선택한 예약의 결제 금액도 바로 확인할 수 있습니다. 예약이 생성되면 Google Calendar 이벤트를 만들고, 취소되면 연결된 일정도 삭제합니다. 고객 예약 데이터가 관리자 운영과 외부 일정 관리까지 이어지는 흐름을 구현했습니다.</a:t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기능 구현에서 끝내지 않고 실제 동작을 검증했습니다. 백엔드 26개, 프런트엔드 20개 테스트를 통과했고, 운영 화면 HTTPS 접속, Health API 응답, 리뷰 API, Calendar 이벤트 ID 저장과 취소 시 삭제까지 확인했습니다. 코드가 있다는 사실보다 실제로 실행되고 연동된다는 점을 검증했습니다.</a:t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Marinboy Salon V3는 고객에게는 쉬운 예약 경험을, 관리자에게는 정확한 운영 도구를 제공하는 프로젝트입니다. 이 과정을 통해 시간 기반 도메인 규칙, 인증, 데이터 검증, 외부 서비스 연동을 하나의 서비스 흐름으로 설계하고 검증했습니다. 감사합니다.</a:t>
            </a:r>
            <a:endParaRPr/>
          </a:p>
        </p:txBody>
      </p:sp>
      <p:sp>
        <p:nvSpPr>
          <p:cNvPr id="308" name="Google Shape;3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3D2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marinboySalon\portfolio-ppt-work\assets\home-cover.png" id="16" name="Google Shape;16;p3"/>
          <p:cNvPicPr preferRelativeResize="0"/>
          <p:nvPr/>
        </p:nvPicPr>
        <p:blipFill rotWithShape="1">
          <a:blip r:embed="rId3">
            <a:alphaModFix amt="94000"/>
          </a:blip>
          <a:srcRect b="0" l="0" r="0" t="0"/>
          <a:stretch/>
        </p:blipFill>
        <p:spPr>
          <a:xfrm>
            <a:off x="6327648" y="0"/>
            <a:ext cx="58640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FULL-STACK DEVELOPER PORTFOLIO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FFFDFA"/>
          </a:solidFill>
          <a:ln cap="flat" cmpd="sng" w="12700">
            <a:solidFill>
              <a:srgbClr val="FFFD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66928" y="1325880"/>
            <a:ext cx="52120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FFFD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MARINBOY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FFFD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SALON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66928" y="2880360"/>
            <a:ext cx="50292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고객 예약부터 관리자 운영까지 연결한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살롱 예약 플랫폼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66928" y="3977640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Next.js · Spring Boot · MyBatis · MySQL · JWT · Redis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66928" y="462686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개인 프로젝트 · 2026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MARINBOY SALON · V3 · 2026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PROBLEM &amp; GOAL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예약은 편하게, 데이터는 정확하게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고객의 선택 과정은 단순하게 만들고, 서버는 모든 제약조건을 한 번 더 확인합니다.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66928" y="2148840"/>
            <a:ext cx="3520440" cy="1965960"/>
          </a:xfrm>
          <a:prstGeom prst="roundRect">
            <a:avLst>
              <a:gd fmla="val 5581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68096" y="2350008"/>
            <a:ext cx="3118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68096" y="2642616"/>
            <a:ext cx="31181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가능한 시간을 바로 확인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68096" y="3108960"/>
            <a:ext cx="311810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메뉴·날짜를 고르면 예약 가능한 시간만 보여 주어 고객의 탐색 부담을 줄였습니다.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34256" y="2148840"/>
            <a:ext cx="3520440" cy="1965960"/>
          </a:xfrm>
          <a:prstGeom prst="roundRect">
            <a:avLst>
              <a:gd fmla="val 5581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35424" y="2350008"/>
            <a:ext cx="3118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35424" y="2642616"/>
            <a:ext cx="31181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중복 예약을 저장 전 차단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35424" y="3108960"/>
            <a:ext cx="311810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영업시간·휴무일·시술 시간·기존 예약을 다시 검증해 화면 우회를 막습니다.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101584" y="2148840"/>
            <a:ext cx="3520440" cy="1965960"/>
          </a:xfrm>
          <a:prstGeom prst="roundRect">
            <a:avLst>
              <a:gd fmla="val 5581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302752" y="2350008"/>
            <a:ext cx="31181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302752" y="2642616"/>
            <a:ext cx="31181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운영 정보를 한곳에 모으기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302752" y="3108960"/>
            <a:ext cx="3118104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예약 상태, 휴무일, 메뉴 이미지, 리뷰, Calendar 연동까지 관리 흐름을 통합했습니다.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417320" y="4800600"/>
            <a:ext cx="9354312" cy="841248"/>
          </a:xfrm>
          <a:prstGeom prst="roundRect">
            <a:avLst>
              <a:gd fmla="val 13043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417320" y="5093208"/>
            <a:ext cx="9354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고객 경험  ×  서버 방어  ×  운영 효율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PROJECT SNAPSHOT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한눈에 보는 프로젝트 범위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고객의 예약 흐름과 관리자의 운영 흐름을 모두 구현한 개인 프로젝트입니다.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2267712"/>
            <a:ext cx="7315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8A63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527048" y="2331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고객 기능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527048" y="271576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메뉴 탐색 · 이미지 carousel · 인기 시술 · 예약 · 내 예약 · 후기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3703320"/>
            <a:ext cx="7315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8A63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527048" y="37673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관리자 기능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527048" y="415137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예약 상태 · 휴무일 · 서비스 이미지 업로드 · 사용자 · Calendar 관리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5138928"/>
            <a:ext cx="7315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3400"/>
              <a:buFont typeface="Times New Roman"/>
              <a:buNone/>
            </a:pPr>
            <a:r>
              <a:rPr b="1" i="0" lang="en-US" sz="3400" u="none" cap="none" strike="noStrike">
                <a:solidFill>
                  <a:srgbClr val="8A63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527048" y="520293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검증 기준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527048" y="5586984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단위 테스트 · API 응답 · 브라우저 화면 · DB 이벤트 ID까지 확인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537960" y="2103120"/>
            <a:ext cx="5074920" cy="3611880"/>
          </a:xfrm>
          <a:prstGeom prst="roundRect">
            <a:avLst>
              <a:gd fmla="val 3038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931152" y="254203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핵심 한 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931152" y="2971800"/>
            <a:ext cx="4206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5C3D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예약이라는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5C3D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시간 기반 데이터를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2600"/>
              <a:buFont typeface="Times New Roman"/>
              <a:buNone/>
            </a:pPr>
            <a:r>
              <a:rPr b="1" i="0" lang="en-US" sz="2600" u="none" cap="none" strike="noStrike">
                <a:solidFill>
                  <a:srgbClr val="5C3D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안전하게 다루는 서비스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931152" y="480060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고객 화면의 선택을 서버 검증과 운영 도구로 연결했습니다.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프런트와 백엔드를 분리한 V3 구조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화면 상태, 인증, API, 데이터 저장의 책임을 나누어 기능을 확장할 수 있게 구성했습니다.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58368" y="2761488"/>
            <a:ext cx="1627632" cy="1499616"/>
          </a:xfrm>
          <a:prstGeom prst="roundRect">
            <a:avLst>
              <a:gd fmla="val 7317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59536" y="2962656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LAYER 01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59536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Next.js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59536" y="372160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고객·관리자 화면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SSR + React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377440" y="3282696"/>
            <a:ext cx="347472" cy="411480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2971800" y="2761488"/>
            <a:ext cx="1627632" cy="1499616"/>
          </a:xfrm>
          <a:prstGeom prst="roundRect">
            <a:avLst>
              <a:gd fmla="val 7317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3172968" y="2962656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LAYER 02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172968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Redux / Saga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172968" y="372160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화면 상태와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비동기 요청 관리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690872" y="3282696"/>
            <a:ext cx="347472" cy="411480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285232" y="2761488"/>
            <a:ext cx="1627632" cy="1499616"/>
          </a:xfrm>
          <a:prstGeom prst="roundRect">
            <a:avLst>
              <a:gd fmla="val 7317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5486400" y="2962656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LAYER 03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0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Spring Boot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486400" y="372160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REST API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서비스 규칙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004304" y="3282696"/>
            <a:ext cx="347472" cy="411480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7598664" y="2761488"/>
            <a:ext cx="1627632" cy="1499616"/>
          </a:xfrm>
          <a:prstGeom prst="roundRect">
            <a:avLst>
              <a:gd fmla="val 7317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799832" y="2962656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LAYER 04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799832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MyBatis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799832" y="372160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명시적 SQL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데이터 접근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317736" y="3282696"/>
            <a:ext cx="347472" cy="411480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9912096" y="2761488"/>
            <a:ext cx="1627632" cy="1499616"/>
          </a:xfrm>
          <a:prstGeom prst="roundRect">
            <a:avLst>
              <a:gd fmla="val 7317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10113264" y="2962656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LAYER 05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0113264" y="325526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113264" y="3721608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예약·메뉴·사용자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영속 데이터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554480" y="4956048"/>
            <a:ext cx="3959352" cy="713232"/>
          </a:xfrm>
          <a:prstGeom prst="roundRect">
            <a:avLst>
              <a:gd fmla="val 15385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554480" y="5212080"/>
            <a:ext cx="3959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JWT Access Token + HttpOnly Refresh Cookie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565392" y="4956048"/>
            <a:ext cx="3959352" cy="713232"/>
          </a:xfrm>
          <a:prstGeom prst="roundRect">
            <a:avLst>
              <a:gd fmla="val 15385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565392" y="5212080"/>
            <a:ext cx="39593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Redis: Refresh Token · OAuth 요청 상태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CUSTOMER EXPERIENCE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고객이 바로 이해하는 첫 화면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브랜드 소개, 카테고리, 인기 시술을 하나의 탐색 흐름으로 연결했습니다.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marinboySalon\MarinboySalon_v3\output\playwright\home.png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984248"/>
            <a:ext cx="5577840" cy="348386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6473952" y="1984248"/>
            <a:ext cx="5148072" cy="3483864"/>
          </a:xfrm>
          <a:prstGeom prst="roundRect">
            <a:avLst>
              <a:gd fmla="val 3150" name="adj"/>
            </a:avLst>
          </a:prstGeom>
          <a:solidFill>
            <a:srgbClr val="F8F5EF"/>
          </a:solidFill>
          <a:ln cap="flat" cmpd="sng" w="12700">
            <a:solidFill>
              <a:srgbClr val="F8F5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876288" y="236829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화면 설계 포인트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894576" y="2798064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8A63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360920" y="281635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헤어살롱의 공간감을 보여 주는 Hero 이미지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894576" y="3456432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8A63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360920" y="347472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컷·펌·컬러·클리닉을 한 번에 분류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894576" y="4096512"/>
            <a:ext cx="292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8A63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360920" y="411480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예약 버튼을 상단과 본문에 반복 배치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876288" y="491032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실제 로컬 실행 화면 캡처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CUSTOMER EXPERIENCE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이미지와 데이터로 메뉴 선택을 돕기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766D64"/>
                </a:solidFill>
              </a:rPr>
              <a:t>활성 메뉴를 헤어와 네일로 나누어 각각 TOP 5로 표시하고, 바로 예약 화면으로 연결합니다.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marinboySalon\MarinboySalon_v3\output\playwright\home-popular.png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2029968"/>
            <a:ext cx="6656832" cy="3630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7589520" y="2029968"/>
            <a:ext cx="4023360" cy="1078992"/>
          </a:xfrm>
          <a:prstGeom prst="roundRect">
            <a:avLst>
              <a:gd fmla="val 10169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7790688" y="2231136"/>
            <a:ext cx="36210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TOP 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790688" y="2441448"/>
            <a:ext cx="36210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두피 클리닉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790688" y="2743200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서비스 이미지와 가격·소요 시간을 함께 제시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589520" y="3355848"/>
            <a:ext cx="4023360" cy="1078992"/>
          </a:xfrm>
          <a:prstGeom prst="roundRect">
            <a:avLst>
              <a:gd fmla="val 10169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790688" y="3557016"/>
            <a:ext cx="36210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TOP 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790688" y="3767328"/>
            <a:ext cx="36210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롱 레이어드 컷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790688" y="4069080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선택한 메뉴는 예약 화면으로 전달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589520" y="4681728"/>
            <a:ext cx="4023360" cy="1078992"/>
          </a:xfrm>
          <a:prstGeom prst="roundRect">
            <a:avLst>
              <a:gd fmla="val 10169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7790688" y="4882896"/>
            <a:ext cx="36210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TOP 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790688" y="5093208"/>
            <a:ext cx="36210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롱 웨이브 펌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790688" y="5394960"/>
            <a:ext cx="3621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시술 이미지는 carousel로 여러 장 관리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RESERVATION FLOW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메뉴부터 시간 선택까지 한 화면에서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예약 진행 상태를 보여 주고, 날짜와 시술이 정해져야 예약 가능한 시간을 계산합니다.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marinboySalon\portfolio-ppt-work\assets\reservation-clean.png" id="168" name="Google Shape;1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2011680"/>
            <a:ext cx="7269480" cy="348386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/>
          <p:nvPr/>
        </p:nvSpPr>
        <p:spPr>
          <a:xfrm>
            <a:off x="8156448" y="2011680"/>
            <a:ext cx="3456432" cy="3483864"/>
          </a:xfrm>
          <a:prstGeom prst="roundRect">
            <a:avLst>
              <a:gd fmla="val 3175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476488" y="239572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예약 단계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476488" y="2852928"/>
            <a:ext cx="347472" cy="274320"/>
          </a:xfrm>
          <a:prstGeom prst="roundRect">
            <a:avLst>
              <a:gd fmla="val 40000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8476488" y="2926080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979408" y="28803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시술 선택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476488" y="3383280"/>
            <a:ext cx="347472" cy="274320"/>
          </a:xfrm>
          <a:prstGeom prst="roundRect">
            <a:avLst>
              <a:gd fmla="val 40000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8476488" y="3456432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8979408" y="34107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날짜 선택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476488" y="3913632"/>
            <a:ext cx="347472" cy="274320"/>
          </a:xfrm>
          <a:prstGeom prst="roundRect">
            <a:avLst>
              <a:gd fmla="val 40000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8476488" y="3986784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979408" y="394106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시간 계산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476488" y="4443984"/>
            <a:ext cx="347472" cy="274320"/>
          </a:xfrm>
          <a:prstGeom prst="roundRect">
            <a:avLst>
              <a:gd fmla="val 40000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8476488" y="4517136"/>
            <a:ext cx="34747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8979408" y="447141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요청 저장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476488" y="4919472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실제 로컬 실행 화면 캡처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CORE PROBLEM SOLVING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화면 검증만 믿지 않는 예약 충돌 방어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저장 직전에 서버가 시간을 다시 계산해, 동시에 들어온 요청과 우회 요청을 차단합니다.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58368" y="2331720"/>
            <a:ext cx="2441448" cy="1371600"/>
          </a:xfrm>
          <a:prstGeom prst="roundRect">
            <a:avLst>
              <a:gd fmla="val 8000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859536" y="2532888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859536" y="282549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과거 시간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859536" y="3291840"/>
            <a:ext cx="2039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지난 시간 예약 차단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3191256" y="2807208"/>
            <a:ext cx="210312" cy="320040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493008" y="2331720"/>
            <a:ext cx="2441448" cy="1371600"/>
          </a:xfrm>
          <a:prstGeom prst="roundRect">
            <a:avLst>
              <a:gd fmla="val 8000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3694176" y="2532888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694176" y="282549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정기·임시 휴무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694176" y="3291840"/>
            <a:ext cx="2039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영업 불가 날짜 차단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025896" y="2807208"/>
            <a:ext cx="210312" cy="320040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327648" y="2331720"/>
            <a:ext cx="2441448" cy="1371600"/>
          </a:xfrm>
          <a:prstGeom prst="roundRect">
            <a:avLst>
              <a:gd fmla="val 8000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6528816" y="2532888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528816" y="282549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시술 소요시간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528816" y="3291840"/>
            <a:ext cx="2039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마감 전 종료 여부 확인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8860536" y="2807208"/>
            <a:ext cx="210312" cy="320040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9162288" y="2331720"/>
            <a:ext cx="2441448" cy="1371600"/>
          </a:xfrm>
          <a:prstGeom prst="roundRect">
            <a:avLst>
              <a:gd fmla="val 8000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9363456" y="2532888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9363456" y="282549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기존 예약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363456" y="3291840"/>
            <a:ext cx="2039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겹치는 시간 저장 차단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115568" y="4443984"/>
            <a:ext cx="9948672" cy="969264"/>
          </a:xfrm>
          <a:prstGeom prst="roundRect">
            <a:avLst>
              <a:gd fmla="val 11321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527048" y="4773168"/>
            <a:ext cx="91257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FFFDFA"/>
                </a:solidFill>
                <a:latin typeface="Courier New"/>
                <a:ea typeface="Courier New"/>
                <a:cs typeface="Courier New"/>
                <a:sym typeface="Courier New"/>
              </a:rPr>
              <a:t>if (overlap &gt; 0)  →  “이미 예약된 시간과 겹칩니다.”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417320" y="5715000"/>
            <a:ext cx="9418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ReservationServiceImpl: 영업시간 · 휴무일 · 시술 시간 · 겹침 여부를 순차 확인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소셜 로그인과 토큰을 분리해 관리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Access Token은 요청 인증에, Refresh Token과 OAuth 요청 상태는 Redis 기반으로 관리합니다.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66928" y="274320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76656" y="2990088"/>
            <a:ext cx="1563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Google / Naver / Kakao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76656" y="3337560"/>
            <a:ext cx="1563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로그인 시작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2450592" y="3154680"/>
            <a:ext cx="228600" cy="256032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2880360" y="274320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2990088" y="2990088"/>
            <a:ext cx="1563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Spring Security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2990088" y="3337560"/>
            <a:ext cx="1563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OAuth 처리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764024" y="3154680"/>
            <a:ext cx="228600" cy="256032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5193792" y="274320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5303520" y="2990088"/>
            <a:ext cx="1563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303520" y="3337560"/>
            <a:ext cx="1563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요청 상태 저장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077456" y="3154680"/>
            <a:ext cx="228600" cy="256032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7507224" y="274320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7616952" y="2990088"/>
            <a:ext cx="1563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JWT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616952" y="3337560"/>
            <a:ext cx="1563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Access 발급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9390888" y="3154680"/>
            <a:ext cx="228600" cy="256032"/>
          </a:xfrm>
          <a:prstGeom prst="chevron">
            <a:avLst>
              <a:gd fmla="val 50000" name="adj"/>
            </a:avLst>
          </a:prstGeom>
          <a:solidFill>
            <a:srgbClr val="8A633F"/>
          </a:solidFill>
          <a:ln cap="flat" cmpd="sng" w="12700">
            <a:solidFill>
              <a:srgbClr val="8A63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9820656" y="2743200"/>
            <a:ext cx="1783080" cy="1143000"/>
          </a:xfrm>
          <a:prstGeom prst="roundRect">
            <a:avLst>
              <a:gd fmla="val 9600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9930384" y="2990088"/>
            <a:ext cx="15636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HttpOnly Cookie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9930384" y="3337560"/>
            <a:ext cx="1563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Refresh 보관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243584" y="4828032"/>
            <a:ext cx="9674352" cy="658368"/>
          </a:xfrm>
          <a:prstGeom prst="roundRect">
            <a:avLst>
              <a:gd fmla="val 16667" name="adj"/>
            </a:avLst>
          </a:prstGeom>
          <a:solidFill>
            <a:srgbClr val="F8F5EF"/>
          </a:solidFill>
          <a:ln cap="flat" cmpd="sng" w="12700">
            <a:solidFill>
              <a:srgbClr val="F8F5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243584" y="5065776"/>
            <a:ext cx="96743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보안 포인트: Refresh Token은 JavaScript에서 접근할 수 없는 HttpOnly Cookie로 전달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32688" y="5742432"/>
            <a:ext cx="10332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766D64"/>
                </a:solidFill>
              </a:rPr>
              <a:t>Google·Kakao·Naver 로그인 시작 경로를 확인했고, 계정 선택·재인증 요청을 적용했습니다.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5E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ADMIN &amp; OPERATIONS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관리자의 운영 흐름까지 연결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예약 이후에도 상태 관리, 후기, 이미지, 외부 Calendar 이벤트까지 운영할 수 있게 설계했습니다.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66928" y="2212848"/>
            <a:ext cx="3456432" cy="2212848"/>
          </a:xfrm>
          <a:prstGeom prst="roundRect">
            <a:avLst>
              <a:gd fmla="val 4959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768096" y="2414016"/>
            <a:ext cx="30540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RESERVATION STATUS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768096" y="2706624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상태 전이 잠금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768096" y="3172968"/>
            <a:ext cx="30540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E6D8CA"/>
                </a:solidFill>
              </a:rPr>
              <a:t>REQUESTED → CONFIRMED → COMPLETED / CANCELLED</a:t>
            </a:r>
            <a:endParaRPr sz="1150">
              <a:solidFill>
                <a:srgbClr val="E6D8CA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E6D8CA"/>
                </a:solidFill>
              </a:rPr>
              <a:t>상세·결제 보기에서 선택 예약의 받을 금액을 바로 확인합니다.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370832" y="2212848"/>
            <a:ext cx="3456432" cy="2212848"/>
          </a:xfrm>
          <a:prstGeom prst="roundRect">
            <a:avLst>
              <a:gd fmla="val 4959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572000" y="2414016"/>
            <a:ext cx="30540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IMAGE &amp;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572000" y="2706624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이미지 업로드와 1회 후기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572000" y="3172968"/>
            <a:ext cx="30540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관리자는 JPG/PNG/WEBP를 선택·미리보기·업로드하고, 메인은 4점 이상 실제 리뷰 20건을 순환합니다.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8174736" y="2212848"/>
            <a:ext cx="3456432" cy="2212848"/>
          </a:xfrm>
          <a:prstGeom prst="roundRect">
            <a:avLst>
              <a:gd fmla="val 4959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8375904" y="2414016"/>
            <a:ext cx="30540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GOOGLE CALENDAR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8375904" y="2706624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B241E"/>
                </a:solidFill>
              </a:rPr>
              <a:t>예약·취소 시 Calendar 일정 동기화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8375904" y="3172968"/>
            <a:ext cx="30540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예약은 Calendar 이벤트를 생성하고, 취소 시 연결된 일정을 삭제해 알림이 남지 않게 합니다.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051560" y="4983480"/>
            <a:ext cx="10076688" cy="685800"/>
          </a:xfrm>
          <a:prstGeom prst="roundRect">
            <a:avLst>
              <a:gd fmla="val 16000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1051560" y="5221224"/>
            <a:ext cx="100766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5C3D24"/>
                </a:solidFill>
              </a:rPr>
              <a:t>예약 저장  →  Calendar 이벤트 생성  →  예약 취소 시 Calendar 삭제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DF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566928" y="786384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2B241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코드가 아닌 동작까지 확인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566928" y="148132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테스트, API, 브라우저, 외부 연동의 단계별 증거를 남겨 실제 실행 가능성을 확인했습니다.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66928" y="2148840"/>
            <a:ext cx="2615184" cy="1956816"/>
          </a:xfrm>
          <a:prstGeom prst="roundRect">
            <a:avLst>
              <a:gd fmla="val 5607" name="adj"/>
            </a:avLst>
          </a:prstGeom>
          <a:solidFill>
            <a:srgbClr val="5C3D24"/>
          </a:solidFill>
          <a:ln cap="flat" cmpd="sng" w="12700">
            <a:solidFill>
              <a:srgbClr val="5C3D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768096" y="2350008"/>
            <a:ext cx="22128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BACKEND TEST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768096" y="2642616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DFA"/>
                </a:solidFill>
              </a:rPr>
              <a:t>26 tests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768096" y="3108960"/>
            <a:ext cx="22128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E6D8CA"/>
                </a:solidFill>
              </a:rPr>
              <a:t>15개 테스트 suite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Failures 0 · Errors 0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401568" y="2148840"/>
            <a:ext cx="2615184" cy="1956816"/>
          </a:xfrm>
          <a:prstGeom prst="roundRect">
            <a:avLst>
              <a:gd fmla="val 5607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3602736" y="2350008"/>
            <a:ext cx="22128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FRONTEND TEST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3602736" y="2642616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B241E"/>
                </a:solidFill>
              </a:rPr>
              <a:t>20 tests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602736" y="3108960"/>
            <a:ext cx="22128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8개 테스트 suite</a:t>
            </a:r>
            <a:endParaRPr sz="1150">
              <a:solidFill>
                <a:srgbClr val="766D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모두 통과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236208" y="2148840"/>
            <a:ext cx="2615184" cy="1956816"/>
          </a:xfrm>
          <a:prstGeom prst="roundRect">
            <a:avLst>
              <a:gd fmla="val 5607" name="adj"/>
            </a:avLst>
          </a:prstGeom>
          <a:solidFill>
            <a:srgbClr val="FFFDFA"/>
          </a:solidFill>
          <a:ln cap="flat" cmpd="sng" w="9525">
            <a:solidFill>
              <a:srgbClr val="E5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6437376" y="2350008"/>
            <a:ext cx="221284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437376" y="2642616"/>
            <a:ext cx="22128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HTTP 200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6437376" y="3108960"/>
            <a:ext cx="2212848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HTTPS 운영 화면 · Health 200</a:t>
            </a:r>
            <a:endParaRPr sz="1150">
              <a:solidFill>
                <a:srgbClr val="766D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리뷰 API 20건 · CI/CD 재배포 확인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9070848" y="2148840"/>
            <a:ext cx="2560320" cy="1956816"/>
          </a:xfrm>
          <a:prstGeom prst="roundRect">
            <a:avLst>
              <a:gd fmla="val 5607" name="adj"/>
            </a:avLst>
          </a:prstGeom>
          <a:solidFill>
            <a:srgbClr val="F1E9DF"/>
          </a:solidFill>
          <a:ln cap="flat" cmpd="sng" w="12700">
            <a:solidFill>
              <a:srgbClr val="F1E9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9272016" y="2350008"/>
            <a:ext cx="21579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CALENDAR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9272016" y="2642616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241E"/>
                </a:solidFill>
                <a:latin typeface="Arial"/>
                <a:ea typeface="Arial"/>
                <a:cs typeface="Arial"/>
                <a:sym typeface="Arial"/>
              </a:rPr>
              <a:t>Event ID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9272016" y="3108960"/>
            <a:ext cx="2157984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예약 생성 eventId 저장 확인</a:t>
            </a:r>
            <a:endParaRPr sz="1150">
              <a:solidFill>
                <a:srgbClr val="766D6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766D64"/>
                </a:solidFill>
              </a:rPr>
              <a:t>예약 취소 시 Calendar 삭제 적용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234440" y="4773168"/>
            <a:ext cx="9738360" cy="777240"/>
          </a:xfrm>
          <a:prstGeom prst="roundRect">
            <a:avLst>
              <a:gd fmla="val 14118" name="adj"/>
            </a:avLst>
          </a:prstGeom>
          <a:solidFill>
            <a:srgbClr val="F8F5EF"/>
          </a:solidFill>
          <a:ln cap="flat" cmpd="sng" w="12700">
            <a:solidFill>
              <a:srgbClr val="F8F5E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1234440" y="5047488"/>
            <a:ext cx="9738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5C3D24"/>
                </a:solidFill>
              </a:rPr>
              <a:t>검증 순서  :  테스트  →  CI/CD  →  EC2 배포  →  리뷰 API·DB 확인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MARINBOY SALON · FULL-STACK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3D24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"/>
          <p:cNvSpPr/>
          <p:nvPr/>
        </p:nvSpPr>
        <p:spPr>
          <a:xfrm>
            <a:off x="566928" y="384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INTERVIEW SUMMARY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11091672" y="283464"/>
            <a:ext cx="502920" cy="310896"/>
          </a:xfrm>
          <a:prstGeom prst="roundRect">
            <a:avLst>
              <a:gd fmla="val 35294" name="adj"/>
            </a:avLst>
          </a:prstGeom>
          <a:solidFill>
            <a:srgbClr val="FFFDFA"/>
          </a:solidFill>
          <a:ln cap="flat" cmpd="sng" w="12700">
            <a:solidFill>
              <a:srgbClr val="FFFD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11091672" y="3383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3D2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640080" y="1234440"/>
            <a:ext cx="74980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FFFD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고객의 예약은 단순하게,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FFFD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운영 데이터는 엄격하게.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640080" y="2798064"/>
            <a:ext cx="676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D8C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6D8CA"/>
                </a:solidFill>
                <a:latin typeface="Arial"/>
                <a:ea typeface="Arial"/>
                <a:cs typeface="Arial"/>
                <a:sym typeface="Arial"/>
              </a:rPr>
              <a:t>이 프로젝트를 통해 화면 개발뿐 아니라 시간 기반 도메인 규칙, 인증, 데이터 검증, 운영 연동까지 하나의 서비스 흐름으로 설계하고 검증했습니다.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8156448" y="1444752"/>
            <a:ext cx="3291840" cy="3364992"/>
          </a:xfrm>
          <a:prstGeom prst="roundRect">
            <a:avLst>
              <a:gd fmla="val 3333" name="adj"/>
            </a:avLst>
          </a:prstGeom>
          <a:solidFill>
            <a:srgbClr val="FFFDFA"/>
          </a:solidFill>
          <a:ln cap="flat" cmpd="sng" w="12700">
            <a:solidFill>
              <a:srgbClr val="FFFD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8503920" y="185623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3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8A633F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8503920" y="2331720"/>
            <a:ext cx="257860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5C3D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관리자 알림을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5C3D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30초 polling에서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24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5C3D2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SSE 기반으로 확장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8503920" y="373075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6D6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66D64"/>
                </a:solidFill>
                <a:latin typeface="Arial"/>
                <a:ea typeface="Arial"/>
                <a:cs typeface="Arial"/>
                <a:sym typeface="Arial"/>
              </a:rPr>
              <a:t>운영 상태 변화가 더 빠르게 전달되도록 개선할 계획입니다.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640080" y="5440680"/>
            <a:ext cx="67665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GitHub  github.com/marlboros9889/MarinboySalon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40080" y="589788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rgbClr val="FFFD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566928" y="6446520"/>
            <a:ext cx="42062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B59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D7B59C"/>
                </a:solidFill>
                <a:latin typeface="Arial"/>
                <a:ea typeface="Arial"/>
                <a:cs typeface="Arial"/>
                <a:sym typeface="Arial"/>
              </a:rPr>
              <a:t>MARINBOY SALON · FULL-STACK DEVELOPER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