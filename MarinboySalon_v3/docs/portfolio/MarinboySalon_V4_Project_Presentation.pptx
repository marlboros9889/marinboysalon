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dad63cf12c4268" /><Relationship Type="http://schemas.openxmlformats.org/officeDocument/2006/relationships/extended-properties" Target="/docProps/app.xml" Id="R9e03f08f84374168" /><Relationship Type="http://schemas.openxmlformats.org/officeDocument/2006/relationships/officeDocument" Target="/ppt/presentation.xml" Id="R30bb9b7bcbaa4a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8b09f03fb1416b"/>
  </p:sldMasterIdLst>
  <p:notesMasterIdLst>
    <p:notesMasterId xmlns:r="http://schemas.openxmlformats.org/officeDocument/2006/relationships" r:id="R5ef3024f1c544ff1"/>
  </p:notesMasterIdLst>
  <p:sldIdLst>
    <p:sldId xmlns:r="http://schemas.openxmlformats.org/officeDocument/2006/relationships" id="256" r:id="R2bad75d630a14505"/>
    <p:sldId xmlns:r="http://schemas.openxmlformats.org/officeDocument/2006/relationships" id="257" r:id="Rba1204e504764e18"/>
    <p:sldId xmlns:r="http://schemas.openxmlformats.org/officeDocument/2006/relationships" id="258" r:id="Rc728fa617cd64047"/>
    <p:sldId xmlns:r="http://schemas.openxmlformats.org/officeDocument/2006/relationships" id="259" r:id="R82587c8e502846cd"/>
    <p:sldId xmlns:r="http://schemas.openxmlformats.org/officeDocument/2006/relationships" id="260" r:id="R57de554aaf30420d"/>
    <p:sldId xmlns:r="http://schemas.openxmlformats.org/officeDocument/2006/relationships" id="261" r:id="R47c4b173addd4a5f"/>
    <p:sldId xmlns:r="http://schemas.openxmlformats.org/officeDocument/2006/relationships" id="262" r:id="R80467442fc0c4d58"/>
    <p:sldId xmlns:r="http://schemas.openxmlformats.org/officeDocument/2006/relationships" id="263" r:id="R62f2438fc4be4497"/>
    <p:sldId xmlns:r="http://schemas.openxmlformats.org/officeDocument/2006/relationships" id="264" r:id="Ra4a249857dfb4121"/>
    <p:sldId xmlns:r="http://schemas.openxmlformats.org/officeDocument/2006/relationships" id="265" r:id="R0f22967cb57448c3"/>
    <p:sldId xmlns:r="http://schemas.openxmlformats.org/officeDocument/2006/relationships" id="266" r:id="R1a81fb7ff40c44fd"/>
    <p:sldId xmlns:r="http://schemas.openxmlformats.org/officeDocument/2006/relationships" id="267" r:id="Rb3136213064e40d1"/>
    <p:sldId xmlns:r="http://schemas.openxmlformats.org/officeDocument/2006/relationships" id="268" r:id="Rf8340130e3154802"/>
    <p:sldId xmlns:r="http://schemas.openxmlformats.org/officeDocument/2006/relationships" id="269" r:id="R4d1ead2cc5cd43c3"/>
    <p:sldId xmlns:r="http://schemas.openxmlformats.org/officeDocument/2006/relationships" id="270" r:id="Rc1588abab0f746ca"/>
    <p:sldId xmlns:r="http://schemas.openxmlformats.org/officeDocument/2006/relationships" id="271" r:id="R7ddbef2914974cf2"/>
    <p:sldId xmlns:r="http://schemas.openxmlformats.org/officeDocument/2006/relationships" id="272" r:id="Rd043267ca7bf4ef9"/>
    <p:sldId xmlns:r="http://schemas.openxmlformats.org/officeDocument/2006/relationships" id="273" r:id="Rc2220ea7b04b4b79"/>
    <p:sldId xmlns:r="http://schemas.openxmlformats.org/officeDocument/2006/relationships" id="274" r:id="Rb4375f74d8434a1a"/>
    <p:sldId xmlns:r="http://schemas.openxmlformats.org/officeDocument/2006/relationships" id="275" r:id="Rf4a3f5e1b9884fda"/>
    <p:sldId xmlns:r="http://schemas.openxmlformats.org/officeDocument/2006/relationships" id="276" r:id="R9fa8e07ac9e44b7c"/>
    <p:sldId xmlns:r="http://schemas.openxmlformats.org/officeDocument/2006/relationships" id="277" r:id="R37a0c6c4e5944503"/>
    <p:sldId xmlns:r="http://schemas.openxmlformats.org/officeDocument/2006/relationships" id="278" r:id="R8921640105844a90"/>
    <p:sldId xmlns:r="http://schemas.openxmlformats.org/officeDocument/2006/relationships" id="279" r:id="R66306b8d0e6543fd"/>
    <p:sldId xmlns:r="http://schemas.openxmlformats.org/officeDocument/2006/relationships" id="280" r:id="R1969acda4d3f4a90"/>
    <p:sldId xmlns:r="http://schemas.openxmlformats.org/officeDocument/2006/relationships" id="281" r:id="R8a9e7dbcff5e45e4"/>
    <p:sldId xmlns:r="http://schemas.openxmlformats.org/officeDocument/2006/relationships" id="282" r:id="R46d44b79aac547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28acb794224da8" /><Relationship Type="http://schemas.openxmlformats.org/officeDocument/2006/relationships/slideMaster" Target="/ppt/slideMasters/slideMaster1.xml" Id="Rc28b09f03fb1416b" /><Relationship Type="http://schemas.openxmlformats.org/officeDocument/2006/relationships/notesMaster" Target="/ppt/notesMasters/notesMaster1.xml" Id="R5ef3024f1c544ff1" /><Relationship Type="http://schemas.openxmlformats.org/officeDocument/2006/relationships/presProps" Target="/ppt/presProps.xml" Id="Rd309781dcc154729" /><Relationship Type="http://schemas.openxmlformats.org/officeDocument/2006/relationships/tableStyles" Target="/ppt/tableStyles.xml" Id="R57d61dd5cbfe4951" /><Relationship Type="http://schemas.openxmlformats.org/officeDocument/2006/relationships/slide" Target="/ppt/slides/slide1.xml" Id="R2bad75d630a14505" /><Relationship Type="http://schemas.openxmlformats.org/officeDocument/2006/relationships/slide" Target="/ppt/slides/slide2.xml" Id="Rba1204e504764e18" /><Relationship Type="http://schemas.openxmlformats.org/officeDocument/2006/relationships/slide" Target="/ppt/slides/slide3.xml" Id="Rc728fa617cd64047" /><Relationship Type="http://schemas.openxmlformats.org/officeDocument/2006/relationships/slide" Target="/ppt/slides/slide4.xml" Id="R82587c8e502846cd" /><Relationship Type="http://schemas.openxmlformats.org/officeDocument/2006/relationships/slide" Target="/ppt/slides/slide5.xml" Id="R57de554aaf30420d" /><Relationship Type="http://schemas.openxmlformats.org/officeDocument/2006/relationships/slide" Target="/ppt/slides/slide6.xml" Id="R47c4b173addd4a5f" /><Relationship Type="http://schemas.openxmlformats.org/officeDocument/2006/relationships/slide" Target="/ppt/slides/slide7.xml" Id="R80467442fc0c4d58" /><Relationship Type="http://schemas.openxmlformats.org/officeDocument/2006/relationships/slide" Target="/ppt/slides/slide8.xml" Id="R62f2438fc4be4497" /><Relationship Type="http://schemas.openxmlformats.org/officeDocument/2006/relationships/slide" Target="/ppt/slides/slide9.xml" Id="Ra4a249857dfb4121" /><Relationship Type="http://schemas.openxmlformats.org/officeDocument/2006/relationships/slide" Target="/ppt/slides/slide10.xml" Id="R0f22967cb57448c3" /><Relationship Type="http://schemas.openxmlformats.org/officeDocument/2006/relationships/slide" Target="/ppt/slides/slide11.xml" Id="R1a81fb7ff40c44fd" /><Relationship Type="http://schemas.openxmlformats.org/officeDocument/2006/relationships/slide" Target="/ppt/slides/slide12.xml" Id="Rb3136213064e40d1" /><Relationship Type="http://schemas.openxmlformats.org/officeDocument/2006/relationships/slide" Target="/ppt/slides/slide13.xml" Id="Rf8340130e3154802" /><Relationship Type="http://schemas.openxmlformats.org/officeDocument/2006/relationships/slide" Target="/ppt/slides/slide14.xml" Id="R4d1ead2cc5cd43c3" /><Relationship Type="http://schemas.openxmlformats.org/officeDocument/2006/relationships/slide" Target="/ppt/slides/slide15.xml" Id="Rc1588abab0f746ca" /><Relationship Type="http://schemas.openxmlformats.org/officeDocument/2006/relationships/slide" Target="/ppt/slides/slide16.xml" Id="R7ddbef2914974cf2" /><Relationship Type="http://schemas.openxmlformats.org/officeDocument/2006/relationships/slide" Target="/ppt/slides/slide17.xml" Id="Rd043267ca7bf4ef9" /><Relationship Type="http://schemas.openxmlformats.org/officeDocument/2006/relationships/slide" Target="/ppt/slides/slide18.xml" Id="Rc2220ea7b04b4b79" /><Relationship Type="http://schemas.openxmlformats.org/officeDocument/2006/relationships/slide" Target="/ppt/slides/slide19.xml" Id="Rb4375f74d8434a1a" /><Relationship Type="http://schemas.openxmlformats.org/officeDocument/2006/relationships/slide" Target="/ppt/slides/slide20.xml" Id="Rf4a3f5e1b9884fda" /><Relationship Type="http://schemas.openxmlformats.org/officeDocument/2006/relationships/slide" Target="/ppt/slides/slide21.xml" Id="R9fa8e07ac9e44b7c" /><Relationship Type="http://schemas.openxmlformats.org/officeDocument/2006/relationships/slide" Target="/ppt/slides/slide22.xml" Id="R37a0c6c4e5944503" /><Relationship Type="http://schemas.openxmlformats.org/officeDocument/2006/relationships/slide" Target="/ppt/slides/slide23.xml" Id="R8921640105844a90" /><Relationship Type="http://schemas.openxmlformats.org/officeDocument/2006/relationships/slide" Target="/ppt/slides/slide24.xml" Id="R66306b8d0e6543fd" /><Relationship Type="http://schemas.openxmlformats.org/officeDocument/2006/relationships/slide" Target="/ppt/slides/slide25.xml" Id="R1969acda4d3f4a90" /><Relationship Type="http://schemas.openxmlformats.org/officeDocument/2006/relationships/slide" Target="/ppt/slides/slide26.xml" Id="R8a9e7dbcff5e45e4" /><Relationship Type="http://schemas.openxmlformats.org/officeDocument/2006/relationships/slide" Target="/ppt/slides/slide27.xml" Id="R46d44b79aac547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28568a50934e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c6ff4d85a9496a" /><Relationship Type="http://schemas.openxmlformats.org/officeDocument/2006/relationships/notesMaster" Target="/ppt/notesMasters/notesMaster1.xml" Id="Re30be7e7dd4b4e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662946804a4bdc" /><Relationship Type="http://schemas.openxmlformats.org/officeDocument/2006/relationships/notesMaster" Target="/ppt/notesMasters/notesMaster1.xml" Id="R8a0eaf2b429f44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c47b19edd04aaa" /><Relationship Type="http://schemas.openxmlformats.org/officeDocument/2006/relationships/notesMaster" Target="/ppt/notesMasters/notesMaster1.xml" Id="R7a2caa68a32f4c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5c7e33c3e644cf" /><Relationship Type="http://schemas.openxmlformats.org/officeDocument/2006/relationships/notesMaster" Target="/ppt/notesMasters/notesMaster1.xml" Id="Rfba8ff6df9a84c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00d295baf4f2b" /><Relationship Type="http://schemas.openxmlformats.org/officeDocument/2006/relationships/notesMaster" Target="/ppt/notesMasters/notesMaster1.xml" Id="Rbf428d84225d43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da768ed89f430b" /><Relationship Type="http://schemas.openxmlformats.org/officeDocument/2006/relationships/notesMaster" Target="/ppt/notesMasters/notesMaster1.xml" Id="Rf34fa43dda9f4a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f027159eb94d8b" /><Relationship Type="http://schemas.openxmlformats.org/officeDocument/2006/relationships/notesMaster" Target="/ppt/notesMasters/notesMaster1.xml" Id="Rd845a5d6c27946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807ae16684ec2" /><Relationship Type="http://schemas.openxmlformats.org/officeDocument/2006/relationships/notesMaster" Target="/ppt/notesMasters/notesMaster1.xml" Id="R0bbe43c662d842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c10faca94c4185" /><Relationship Type="http://schemas.openxmlformats.org/officeDocument/2006/relationships/notesMaster" Target="/ppt/notesMasters/notesMaster1.xml" Id="R75d20d2c64bd43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3651f5c1ab4070" /><Relationship Type="http://schemas.openxmlformats.org/officeDocument/2006/relationships/notesMaster" Target="/ppt/notesMasters/notesMaster1.xml" Id="Rfadf3eaa8e894b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986f9e9dd14d52" /><Relationship Type="http://schemas.openxmlformats.org/officeDocument/2006/relationships/notesMaster" Target="/ppt/notesMasters/notesMaster1.xml" Id="R33e194efa1eb4b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73d1159a2b4406" /><Relationship Type="http://schemas.openxmlformats.org/officeDocument/2006/relationships/notesMaster" Target="/ppt/notesMasters/notesMaster1.xml" Id="Radf441f8d69b46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4e54e7546142c8" /><Relationship Type="http://schemas.openxmlformats.org/officeDocument/2006/relationships/notesMaster" Target="/ppt/notesMasters/notesMaster1.xml" Id="Rd793d3da999b49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00c9626d674dba" /><Relationship Type="http://schemas.openxmlformats.org/officeDocument/2006/relationships/notesMaster" Target="/ppt/notesMasters/notesMaster1.xml" Id="Rdb68c83cda5a46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353b8f59174c55" /><Relationship Type="http://schemas.openxmlformats.org/officeDocument/2006/relationships/notesMaster" Target="/ppt/notesMasters/notesMaster1.xml" Id="R29e72c90232a4a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a48f40463d4e73" /><Relationship Type="http://schemas.openxmlformats.org/officeDocument/2006/relationships/notesMaster" Target="/ppt/notesMasters/notesMaster1.xml" Id="R378ec5ce7bfa41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e7be48c35a4d50" /><Relationship Type="http://schemas.openxmlformats.org/officeDocument/2006/relationships/notesMaster" Target="/ppt/notesMasters/notesMaster1.xml" Id="Rb1ae468ea9854d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3124c53df44071" /><Relationship Type="http://schemas.openxmlformats.org/officeDocument/2006/relationships/notesMaster" Target="/ppt/notesMasters/notesMaster1.xml" Id="R3c259895da0c4d4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7c4669c3b64d53" /><Relationship Type="http://schemas.openxmlformats.org/officeDocument/2006/relationships/notesMaster" Target="/ppt/notesMasters/notesMaster1.xml" Id="Rec39879f3b2449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88f460ff0e4e7c" /><Relationship Type="http://schemas.openxmlformats.org/officeDocument/2006/relationships/notesMaster" Target="/ppt/notesMasters/notesMaster1.xml" Id="R1d87a30eb3274c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3d95eb83754a37" /><Relationship Type="http://schemas.openxmlformats.org/officeDocument/2006/relationships/notesMaster" Target="/ppt/notesMasters/notesMaster1.xml" Id="Re149fed899c346f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aaa507f67914d27" /><Relationship Type="http://schemas.openxmlformats.org/officeDocument/2006/relationships/notesMaster" Target="/ppt/notesMasters/notesMaster1.xml" Id="Ra1e6c3c95d8347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bfe1cd4ef8f4544" /><Relationship Type="http://schemas.openxmlformats.org/officeDocument/2006/relationships/notesMaster" Target="/ppt/notesMasters/notesMaster1.xml" Id="R6b881d83873147a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b583a3ee9fa4555" /><Relationship Type="http://schemas.openxmlformats.org/officeDocument/2006/relationships/notesMaster" Target="/ppt/notesMasters/notesMaster1.xml" Id="Rdfd3b62f1c5845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4dcf71a0d364459" /><Relationship Type="http://schemas.openxmlformats.org/officeDocument/2006/relationships/notesMaster" Target="/ppt/notesMasters/notesMaster1.xml" Id="Reb8a0e190fdb465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dbfe06d78ce458a" /><Relationship Type="http://schemas.openxmlformats.org/officeDocument/2006/relationships/notesMaster" Target="/ppt/notesMasters/notesMaster1.xml" Id="R6149fc4f52d64a1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2f07f11d00e477b" /><Relationship Type="http://schemas.openxmlformats.org/officeDocument/2006/relationships/notesMaster" Target="/ppt/notesMasters/notesMaster1.xml" Id="Rfa2bba9a6b6c4a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V3 웹과 V4 Flutter 앱이 공통 Spring Boot API와 예약 데이터를 사용하는 프로젝트입니다.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d8b49449a4f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49d3711de41f9" /><Relationship Type="http://schemas.openxmlformats.org/officeDocument/2006/relationships/slideLayout" Target="/ppt/slideLayouts/slideLayout1.xml" Id="R41c63e65816444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63e65816444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de78d5953492a" /><Relationship Type="http://schemas.openxmlformats.org/officeDocument/2006/relationships/notesSlide" Target="/ppt/notesSlides/notesSlide1.xml" Id="Rc74646b8c5fa42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57ab37e3243d5" /><Relationship Type="http://schemas.openxmlformats.org/officeDocument/2006/relationships/notesSlide" Target="/ppt/notesSlides/notesSlide2.xml" Id="R57b909e0d9544d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c933ee1f54739" /><Relationship Type="http://schemas.openxmlformats.org/officeDocument/2006/relationships/notesSlide" Target="/ppt/notesSlides/notesSlide3.xml" Id="R91a9f7ca0f3a42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93fa689784f4b" /><Relationship Type="http://schemas.openxmlformats.org/officeDocument/2006/relationships/notesSlide" Target="/ppt/notesSlides/notesSlide4.xml" Id="R29870217025742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635abf05243a5" /><Relationship Type="http://schemas.openxmlformats.org/officeDocument/2006/relationships/notesSlide" Target="/ppt/notesSlides/notesSlide5.xml" Id="Re5b8df1eb8cd4f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4235518f244cd" /><Relationship Type="http://schemas.openxmlformats.org/officeDocument/2006/relationships/notesSlide" Target="/ppt/notesSlides/notesSlide6.xml" Id="Rc421be66dbb04b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7516b32b64b56" /><Relationship Type="http://schemas.openxmlformats.org/officeDocument/2006/relationships/notesSlide" Target="/ppt/notesSlides/notesSlide7.xml" Id="Rbf4bf94598e74e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d31200f67484a" /><Relationship Type="http://schemas.openxmlformats.org/officeDocument/2006/relationships/image" Target="/ppt/media/image.png" Id="R7966fdf79daf476e" /><Relationship Type="http://schemas.openxmlformats.org/officeDocument/2006/relationships/image" Target="/ppt/media/image2.png" Id="R15603c74b6bd4edd" /><Relationship Type="http://schemas.openxmlformats.org/officeDocument/2006/relationships/notesSlide" Target="/ppt/notesSlides/notesSlide8.xml" Id="Rd33eddcde69645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421aa5186477a" /><Relationship Type="http://schemas.openxmlformats.org/officeDocument/2006/relationships/image" Target="/ppt/media/image3.png" Id="R952800611655458d" /><Relationship Type="http://schemas.openxmlformats.org/officeDocument/2006/relationships/image" Target="/ppt/media/image4.png" Id="R2836a74182e64b37" /><Relationship Type="http://schemas.openxmlformats.org/officeDocument/2006/relationships/notesSlide" Target="/ppt/notesSlides/notesSlide9.xml" Id="R20a9b66f92ec4b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6e90b66bf43da" /><Relationship Type="http://schemas.openxmlformats.org/officeDocument/2006/relationships/image" Target="/ppt/media/image5.png" Id="Rc2f17352341e4371" /><Relationship Type="http://schemas.openxmlformats.org/officeDocument/2006/relationships/image" Target="/ppt/media/image6.png" Id="Rc2a8c11c132c4fd1" /><Relationship Type="http://schemas.openxmlformats.org/officeDocument/2006/relationships/notesSlide" Target="/ppt/notesSlides/notesSlide10.xml" Id="R6596ba9cebcc4a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a10c04d714921" /><Relationship Type="http://schemas.openxmlformats.org/officeDocument/2006/relationships/notesSlide" Target="/ppt/notesSlides/notesSlide11.xml" Id="R2b319ea0d58543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d801d5ba74e34" /><Relationship Type="http://schemas.openxmlformats.org/officeDocument/2006/relationships/notesSlide" Target="/ppt/notesSlides/notesSlide12.xml" Id="R157b77d432ed4a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857458ce2481f" /><Relationship Type="http://schemas.openxmlformats.org/officeDocument/2006/relationships/notesSlide" Target="/ppt/notesSlides/notesSlide13.xml" Id="Rbf8ad1b609c94c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c886ddddc47b8" /><Relationship Type="http://schemas.openxmlformats.org/officeDocument/2006/relationships/notesSlide" Target="/ppt/notesSlides/notesSlide14.xml" Id="R644223d8231544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a2b5ca0ca4eae" /><Relationship Type="http://schemas.openxmlformats.org/officeDocument/2006/relationships/notesSlide" Target="/ppt/notesSlides/notesSlide15.xml" Id="Ra8dd7ea466a040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0f79500fa41c3" /><Relationship Type="http://schemas.openxmlformats.org/officeDocument/2006/relationships/notesSlide" Target="/ppt/notesSlides/notesSlide16.xml" Id="R415f3a83ddb44f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a84767e5d4a24" /><Relationship Type="http://schemas.openxmlformats.org/officeDocument/2006/relationships/notesSlide" Target="/ppt/notesSlides/notesSlide17.xml" Id="R793b4f5c4a834f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ae287e0ee4c8e" /><Relationship Type="http://schemas.openxmlformats.org/officeDocument/2006/relationships/notesSlide" Target="/ppt/notesSlides/notesSlide18.xml" Id="R0d980719ef89459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eb9f839b349d5" /><Relationship Type="http://schemas.openxmlformats.org/officeDocument/2006/relationships/notesSlide" Target="/ppt/notesSlides/notesSlide19.xml" Id="R018d8d967b3342d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5832a90b94837" /><Relationship Type="http://schemas.openxmlformats.org/officeDocument/2006/relationships/notesSlide" Target="/ppt/notesSlides/notesSlide20.xml" Id="Rd7683071b749460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28d03e2cd4cec" /><Relationship Type="http://schemas.openxmlformats.org/officeDocument/2006/relationships/notesSlide" Target="/ppt/notesSlides/notesSlide21.xml" Id="R6c5bbef1d03548f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4028a576f49ae" /><Relationship Type="http://schemas.openxmlformats.org/officeDocument/2006/relationships/notesSlide" Target="/ppt/notesSlides/notesSlide22.xml" Id="R404e9c6458ac42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18fb847ab4d2d" /><Relationship Type="http://schemas.openxmlformats.org/officeDocument/2006/relationships/notesSlide" Target="/ppt/notesSlides/notesSlide23.xml" Id="R0bd25e71e539489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c4ca46d714a1a" /><Relationship Type="http://schemas.openxmlformats.org/officeDocument/2006/relationships/notesSlide" Target="/ppt/notesSlides/notesSlide24.xml" Id="R3853b37ff294469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43a67c1e543cf" /><Relationship Type="http://schemas.openxmlformats.org/officeDocument/2006/relationships/notesSlide" Target="/ppt/notesSlides/notesSlide25.xml" Id="Rc08c8930f11145e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892724c874438" /><Relationship Type="http://schemas.openxmlformats.org/officeDocument/2006/relationships/notesSlide" Target="/ppt/notesSlides/notesSlide26.xml" Id="R5bd4d2c371dc449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b2b6111224adf" /><Relationship Type="http://schemas.openxmlformats.org/officeDocument/2006/relationships/notesSlide" Target="/ppt/notesSlides/notesSlide27.xml" Id="Rcbfeabd1d9c343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933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828B7-97FA-41B6-9D70-B0D21E6A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92043-9187-4010-BBA0-6BCF0203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7B39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D7B39F"/>
                </a:solidFill>
                <a:latin typeface="Malgun Gothic"/>
                <a:ea typeface="Malgun Gothic"/>
                <a:cs typeface="Malgun Gothic"/>
              </a:rPr>
              <a:t>PROJECT V4  /  FULL-STACK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FA66A-4E49-4A12-B5DC-9246E489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MarinboySalon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1F83F-A2D3-4F95-BE31-4E9A26B0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1E8E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F1E8E2"/>
                </a:solidFill>
                <a:latin typeface="Malgun Gothic"/>
                <a:ea typeface="Malgun Gothic"/>
                <a:cs typeface="Malgun Gothic"/>
              </a:rPr>
              <a:t>매출 및 생산성 향상을 위한</a:t>
            </a:r>
          </a:p>
          <a:p xmlns:a="http://schemas.openxmlformats.org/drawingml/2006/main">
            <a:pPr>
              <a:defRPr sz="2325" b="0">
                <a:solidFill>
                  <a:srgbClr val="F1E8E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F1E8E2"/>
                </a:solidFill>
                <a:latin typeface="Malgun Gothic"/>
                <a:ea typeface="Malgun Gothic"/>
                <a:cs typeface="Malgun Gothic"/>
              </a:rPr>
              <a:t>웹·모바일 예약 운영 플랫폼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DFCFC-277E-48FF-B037-BBFE674D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A5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D8B70-DCC7-4B63-94C1-9998693A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3D6C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3D6CF"/>
                </a:solidFill>
                <a:latin typeface="Malgun Gothic"/>
                <a:ea typeface="Malgun Gothic"/>
                <a:cs typeface="Malgun Gothic"/>
              </a:rPr>
              <a:t>V3 Next.js 웹  +  V4 Flutter 앱  +  Spring Boot 공통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BC4E9-6EBD-4C57-9921-E72C7EDE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8B9B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8B9B0"/>
                </a:solidFill>
                <a:latin typeface="Malgun Gothic"/>
                <a:ea typeface="Malgun Gothic"/>
                <a:cs typeface="Malgun Gothic"/>
              </a:rPr>
              <a:t>DART · MyBatis · MySQL · AWS EC2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2C894-3A4E-45CD-B5D2-8A8917E3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19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3D6C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3D6CF"/>
                </a:solidFill>
                <a:latin typeface="Malgun Gothic"/>
                <a:ea typeface="Malgun Gothic"/>
                <a:cs typeface="Malgun Gothic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12331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63C2F-B552-418E-B61A-825CE5AF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FE7B5-C948-46CB-B4C6-BA6E5511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DE684-2562-47C1-9141-8D6D6D8A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발표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E582B-7DD7-4598-B855-4DFD8A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기획부터 구현과 회고까지, 평가 항목 순서에 맞춰 구성했습니다.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9D94F-31D0-4F0B-B9D0-FBEE9FCF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D19FD-3748-4F39-85F3-C191687B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A5C64-72F7-4894-BA97-3AA0BE1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15A36-8406-4C9A-9BED-6433F33D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5143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D5E55-CABD-449C-B0D6-D385F57D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07D5F-A712-4BCD-A4B8-2053C77D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01  프로젝트 개요·기획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FCBD3-00E1-49F7-81DD-7CF75DD5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4724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목표 · 범위 · 개발 계획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77181-6515-4E7D-A686-98A53691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71650"/>
            <a:ext cx="5143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BC946-12AC-442D-A39C-BE874813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716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033DE-577E-4EF4-93EE-CBE5BDEB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02  화면과 서비스 설계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48238-03D5-4DF5-818B-131DF511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4724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브랜드 · 화면 · API · MVC · 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64D59-7F0C-4046-8F70-DD5F42D3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5143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90E96-F0AF-453E-B7B8-937BED37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AA566-1653-4245-B0D2-75D5A183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03  핵심 기능 구현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4EEB8-3C01-45DD-BEF9-13F1B064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4724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· OAuth · 캘린더 · V4 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1E2189-1A40-415D-8E3B-F76430DC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24275"/>
            <a:ext cx="5143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E9854-1D58-4295-B539-A86345C0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2427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B3ED2-AE04-49E1-BB77-9DE58E2A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862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04  검증과 회고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E249C0-7588-45C3-8570-B0EF9EE5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57675"/>
            <a:ext cx="4724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테스트 · 배포 · KPT</a:t>
            </a:r>
          </a:p>
        </p:txBody>
      </p:sp>
    </p:spTree>
    <p:extLst>
      <p:ext uri="{BB962C8B-B14F-4D97-AF65-F5344CB8AC3E}">
        <p14:creationId xmlns:p14="http://schemas.microsoft.com/office/powerpoint/2010/main" val="2029075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0CB62-35F9-4ABE-AF5A-7AED053A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0EA32-767D-4F9B-A04C-B2C11A6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4ACCF-74AB-42C5-BE03-E8994643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A4979-D0D9-4849-B86E-6B17064E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접점은 넓히고, 운영 데이터는 하나로 유지합니다.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70E1B-736A-4C83-AC43-6C13D2E2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6B67B-580F-481A-BBA8-097D36A4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EDA9C-C055-4D2B-9C42-06C65E1B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6B64E-DA1D-4CFE-BCC2-B729F328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AD428-6553-486B-B59D-92580C0C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47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08DF3-FCF3-41DA-B6D9-68AF710E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720D5-DBFC-4F11-A5BB-AE8D52C2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914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웹과 모바일 사용자가 같은 예약 정보를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가능 시간, 중복 확인, 캘린더 등록이 따로 움직이면 운영 누락이 생길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D9B37-BA82-4203-95D3-90F14617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1941A-3409-4759-9844-0F90846D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47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AD816-991C-4D7C-8CDD-F6E72E9A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9547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57F34-33C3-4F31-95C6-95DF00DF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2914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V3 웹 운영을 유지하면서 Flutter 앱을 추가합니다.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기존 API·계정·DB를 공유해 플랫폼 간 예약 흐름을 연결합니다.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6D6CC-4131-422C-9984-61FD8FB7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3355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79CEC-3820-4AAD-9F78-A2B871FB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33550"/>
            <a:ext cx="47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3E342C-93DA-4776-B2A4-EF4A54E6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9547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결과 범위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FCEDF-DA9F-4517-9E51-38F4E8BF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2914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고객 예약과 내 예약 조회, 관리자 예약 상태 관리와 예약 기반 예상 매출을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직원 관리·배정·근무표는 제외합니다.</a:t>
            </a:r>
          </a:p>
        </p:txBody>
      </p:sp>
    </p:spTree>
    <p:extLst>
      <p:ext uri="{BB962C8B-B14F-4D97-AF65-F5344CB8AC3E}">
        <p14:creationId xmlns:p14="http://schemas.microsoft.com/office/powerpoint/2010/main" val="1483889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7FE67-F409-4B2E-B4C6-860FD844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707AE-9BDC-4C69-B253-353ED19A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EC7CE-7A4E-4541-9F4A-8FD23AAD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기획과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84278-5F42-4BEF-825E-6BA68F69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데이터의 일관성을 우선으로 두고, V4 기능은 운영 핵심에 집중했습니다.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9DBF8-3C60-4407-9C02-F1DD74B4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83337-437E-48B9-A17C-E7EC30C7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76649-7C5C-4E8F-951F-5E6D1093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A774B-D9C8-462D-85EA-397EBEE4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51435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8BB0E-9053-43DF-8FD2-B2B8757B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6026C-DBE1-43DB-AF12-217D730E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고객 경험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DC05E-8E9A-4825-B0F6-E25C40AE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72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시술 탐색 → 로그인 → 가능한 시간 선택 → 예약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F4105-09FD-4509-BEED-4EDDD699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51435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C76A9-336C-46A1-AA16-D2C7E5FF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8D8BD-315E-4D6A-BC80-E29A3A30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1452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관리 흐름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033A1-E3E2-4A88-BCCE-760FD520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472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상태 변경 → 현황 집계 → 예상 매출 참고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8277D-CF7B-4574-8E02-DA7C2B81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51435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64E0A-A252-41B6-A147-D6610D99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F6FC6-C75A-4839-8549-F9B93D0B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공통 원칙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7D8AE-D0BD-4233-871E-35D058C0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72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V3 API/DB 재사용 · 권한 확인 · 실패 안내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408D7-A3B3-4AC4-98D6-6610E1E6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52850"/>
            <a:ext cx="51435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E2ADA-1A34-4BD6-AC19-FD43167E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528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D5D57-4206-4CB4-9ABB-EA06C488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147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제외 기능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283AC-F585-463A-8445-CC6E0412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472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직원 관리 · 직원 배정 · 근무표는 구현 범위 밖</a:t>
            </a:r>
          </a:p>
        </p:txBody>
      </p:sp>
    </p:spTree>
    <p:extLst>
      <p:ext uri="{BB962C8B-B14F-4D97-AF65-F5344CB8AC3E}">
        <p14:creationId xmlns:p14="http://schemas.microsoft.com/office/powerpoint/2010/main" val="1806090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FCFA7-B616-42A6-8949-1AEC96E6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83B28-7169-41E6-9693-0E827F8B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9A21F-A7FD-447D-B31A-17EB7948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웹과 앱이 공유하는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7DB1F-F920-4270-9FDE-912258AC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V4는 신규 백엔드가 아니라 V3의 REST API를 사용하는 앱 클라이언트입니다.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9BEEF-56F1-4F43-B43F-866609EF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B0F94-175E-4756-BA37-34C73288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9B8A1-4F9C-482A-A625-B7438F2D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7649A-35D4-451A-8954-F01EADAA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4765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46774-9936-4E77-91F3-77AD8F20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7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C387A-5C2F-4E91-9372-D2403F57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V3 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DD743-BA4B-4624-86A9-22D9E5B6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Next.js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브라우저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804B6-118F-48C2-9BDE-0F2055D1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576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92D2D-9646-41C1-B3EF-FC1A2BA7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86000"/>
            <a:ext cx="24765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9AF6F-1230-4877-B584-A85EF8A4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86000"/>
            <a:ext cx="47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E0BCE-5826-43FD-AD75-997B51FB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V4 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B4FF5-569C-4488-B721-3E5A371E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Flutter · Dart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Android / 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E7278-D035-435B-83DD-E8AEB2E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576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9CB939-7A86-4997-BA37-CC1FC774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4765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B0F91-41E2-487A-B0D2-E20428AC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47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15B7A5-CF3D-436F-B92F-7CB6BDA0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ED040-1A88-44C3-8CE6-22CFAB4B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Spring Boot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인증 · 예약 규칙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466ED-0AD6-4865-BBE8-7B919F6E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908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576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393E7-6D0B-4B6D-BE3A-217C5BBF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247650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3F4C9-7AA3-4C26-A592-08C5CC3B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47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20AE8-DFED-4D0F-9D88-6F03C1FA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479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저장·연동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4CF93-3101-4BAC-9853-64088366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19400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MyBatis · MySQL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Redis · Calendar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B761A-61DC-4A6A-AEE0-8DD1BBA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플랫폼별 화면은 분리되어도, 예약·회원 데이터와 서버 검증은 공통으로 유지됩니다.</a:t>
            </a:r>
          </a:p>
        </p:txBody>
      </p:sp>
    </p:spTree>
    <p:extLst>
      <p:ext uri="{BB962C8B-B14F-4D97-AF65-F5344CB8AC3E}">
        <p14:creationId xmlns:p14="http://schemas.microsoft.com/office/powerpoint/2010/main" val="11351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9E782C-3CC4-4135-8ED2-35F4299C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AC5C0-F5F8-477D-A0FE-F09EEABB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C9CF8-D981-414A-AE23-9565F9AB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사용 도구와 기술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31F3C-EF63-4847-9780-98CFEC12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기존 서비스에 Flutter 클라이언트를 연결하고 CI/CD로 함께 검증합니다.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7B3BE-F8D8-46AD-9924-1A909B92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95308-4C8F-4E4C-9252-95158467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12F9B-E9D3-4561-9DC7-7F7C9036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813F2-CEA1-49ED-AB42-D25FFC80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428875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255AF-ED59-420E-AB40-7279E10A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67F12-1912-4A65-89E7-ADFCB2A0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FC0D9-DC8B-4271-8DCF-5C298C01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0097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Flutter · Dart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Riverpod · 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DC1BD-3F1D-4E7E-B114-DEE1768D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95500"/>
            <a:ext cx="2428875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6AA9D-A618-4995-B6AF-FDE28BCC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95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1811D-B5F9-405D-8FA8-BA8E685C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57425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73D29-AEE3-41BF-9A89-00DCF9E6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28900"/>
            <a:ext cx="20097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Next.js · React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TypeScript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F89D3-7AC0-4917-9E78-8CE1979B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428875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D4CD1-A460-4D27-A57A-7635C557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FB9C0-0F7F-4163-9160-9DFCD8E7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57425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DB26D-1DDD-4A0D-892D-47A9CDE5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20097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Spring Boot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MyBatis · REST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F75CB-A2D8-4DCE-A65F-52DFD64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095500"/>
            <a:ext cx="2428875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FC4AE-2F5E-4310-86FD-03DAD5F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0955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77931-AB06-42ED-BFAA-8457ACC1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57425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데이터·운영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7B078-41E6-43D6-B41B-8FFD6B2C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28900"/>
            <a:ext cx="20097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MySQL · Redis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AWS EC2 · Nginx · Actions</a:t>
            </a:r>
          </a:p>
        </p:txBody>
      </p:sp>
    </p:spTree>
    <p:extLst>
      <p:ext uri="{BB962C8B-B14F-4D97-AF65-F5344CB8AC3E}">
        <p14:creationId xmlns:p14="http://schemas.microsoft.com/office/powerpoint/2010/main" val="139206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6835D-9BB9-4A6C-81F6-D39C7CF4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5E303-B1B0-4FE3-A655-297C5F5F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DESIGN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7F490-1672-4866-96B1-1CB90E34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프런트엔드 디자인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EE823-4951-4984-B261-341FD85D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V3 브랜드의 따뜻한 브라운 톤을 V4 화면에 이어 사용합니다.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A8532-230B-4A34-B095-621661B9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A2D0E-50ED-4A60-A005-EADF33C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BB17C-2C0E-429B-817B-B5651317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E3171-6067-4D00-B4BC-16E8EACD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0AFC2-29D5-4697-B623-CCE8C289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5715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3B29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E3332-1F65-4CEE-8ED8-243D9F34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431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메인 브라운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FEA9A-552F-4DE8-9D6C-236AAD3B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5715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3874B-BB77-42DC-9904-F8BD8970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432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강조 색상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16D71-EAA6-4ECC-AC20-1D9AC5C7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5715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3ECE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2687E-3CF9-491E-8721-D1E6C692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43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이미지 배경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B63E9-D7F6-43AD-997F-CC454D32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5715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7F3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0A209-5DF0-4D60-92DA-0C941939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43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페이지 배경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20984-C757-4778-925F-6099B6D6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1A0C1-B784-4949-BF82-635A0C97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4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5C72F-19E3-4E8C-A879-0C677F88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621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화면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24BC5-BF4B-4640-8A7D-CB53466C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5339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• 짧은 단계형 예약 흐름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• 충분한 대비와 큰 터치 영역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• 이미지 원본 비율 유지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• 좁은 화면에서 정보 우선순위 조정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• 공통 앱 바·카드·버튼 톤</a:t>
            </a:r>
          </a:p>
        </p:txBody>
      </p:sp>
    </p:spTree>
    <p:extLst>
      <p:ext uri="{BB962C8B-B14F-4D97-AF65-F5344CB8AC3E}">
        <p14:creationId xmlns:p14="http://schemas.microsoft.com/office/powerpoint/2010/main" val="8922451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7A5AA-95E5-4520-B6E5-519FEE6D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BE12F-094C-43BF-9AFC-BCA21DF9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2C70B-5B44-4FA8-BDC4-309DA491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V3 웹 화면 01 · 탐색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CD1A1-04B8-4050-8D9F-56A94028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실제 구현 화면 · 원본 비율을 유지해 주요 흐름을 확인할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A3096-2893-408B-BA59-5DB31973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771AF-B4C4-4DBC-86C6-4E30F22B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B5E7F-D003-4FF9-89BB-FA0FFDB4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D12B2-D82B-47EB-A994-5A6B3657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143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B5876-298E-4EBE-902E-030BFC1A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47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88441-BF6F-4FB9-97D8-0CE6C877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메인 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BCE5B-1484-4085-842E-7CFC6590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24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6fdf79daf476e"/>
          <a:stretch xmlns:a="http://schemas.openxmlformats.org/drawingml/2006/main"/>
        </p:blipFill>
        <p:spPr>
          <a:xfrm xmlns:a="http://schemas.openxmlformats.org/drawingml/2006/main">
            <a:off x="876300" y="2259806"/>
            <a:ext cx="4686300" cy="2928938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B80FA-A529-4DC7-8ABB-CE2F67DE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메인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1D6A3-185A-4C0D-A618-23FCADC2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5143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D869C-D6F8-4881-9601-8927402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47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7CBAE-51DF-4311-BAEF-7A1052EB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573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인기 시술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153F5-B19A-4383-97AA-F16D4EFA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4724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03c74b6bd4edd"/>
          <a:stretch xmlns:a="http://schemas.openxmlformats.org/drawingml/2006/main"/>
        </p:blipFill>
        <p:spPr>
          <a:xfrm xmlns:a="http://schemas.openxmlformats.org/drawingml/2006/main">
            <a:off x="6286500" y="2481214"/>
            <a:ext cx="4686300" cy="2486122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9267D-32F1-40E1-A53F-DEAA0349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626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인기 시술</a:t>
            </a:r>
          </a:p>
        </p:txBody>
      </p:sp>
    </p:spTree>
    <p:extLst>
      <p:ext uri="{BB962C8B-B14F-4D97-AF65-F5344CB8AC3E}">
        <p14:creationId xmlns:p14="http://schemas.microsoft.com/office/powerpoint/2010/main" val="1429463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85404-25AE-4529-BA2F-A454F5F5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2F3AF-DE9C-4984-9848-F5AF4BEE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22898-9812-438E-BCE7-88F17F1A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V3 웹 화면 02 · 예약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85E10-94D6-4AAD-AA5B-D04CD342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실제 구현 화면 · 원본 비율을 유지해 주요 흐름을 확인할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DC9F1-A841-444F-8125-DEA8EE20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1EA1E-824E-4BD0-8396-D844013D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E75CA-6EB5-4FC7-9247-F0006DB3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01B33-4BC6-4885-AAC3-2AE192A4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143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46804-ECA4-482D-9C2B-9E559707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47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2FDF5-812F-4EF2-9A83-80F40971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예약 단계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4CB6A-4560-44D9-9BE0-BC1D58DB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24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800611655458d"/>
          <a:stretch xmlns:a="http://schemas.openxmlformats.org/drawingml/2006/main"/>
        </p:blipFill>
        <p:spPr>
          <a:xfrm xmlns:a="http://schemas.openxmlformats.org/drawingml/2006/main">
            <a:off x="1143095" y="2152650"/>
            <a:ext cx="4152710" cy="314325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BAC3E-BE84-4848-9C78-4885ECCA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단계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7C73E-5AF4-4F31-A2EF-65E1D26F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5143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38A34-3DD6-4FE5-8231-E1057C21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47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A20A3-1DF2-4B95-8D39-B9174A7C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573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예약 단계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C1838-549A-480B-8DF3-DFE3267B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4724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6a74182e64b37"/>
          <a:stretch xmlns:a="http://schemas.openxmlformats.org/drawingml/2006/main"/>
        </p:blipFill>
        <p:spPr>
          <a:xfrm xmlns:a="http://schemas.openxmlformats.org/drawingml/2006/main">
            <a:off x="6393691" y="2152650"/>
            <a:ext cx="4471918" cy="314325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F47A14-5067-44F2-A31F-F6D3EC86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626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단계 2</a:t>
            </a:r>
          </a:p>
        </p:txBody>
      </p:sp>
    </p:spTree>
    <p:extLst>
      <p:ext uri="{BB962C8B-B14F-4D97-AF65-F5344CB8AC3E}">
        <p14:creationId xmlns:p14="http://schemas.microsoft.com/office/powerpoint/2010/main" val="56842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FF0995-621C-45CD-88C5-DEDBDB9E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60E0E-3D64-4455-B1C5-9793AA88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017FA-3099-4B27-BD5F-6E4A88F9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V3 웹 화면 03 ·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95C0D-121D-46A0-9902-177B94E9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실제 구현 화면 · 원본 비율을 유지해 주요 흐름을 확인할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A965B-E751-4A26-B94B-B7CA9CAC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FBB34-C61B-4763-83BD-B95834E2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9E63C-2B72-48E2-948C-DED913F6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431D9-2A74-4F8A-9E3D-3D45EDFF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143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63F54-BE0F-4D27-9B61-C331B180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47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EE28F-CEF4-4414-9C66-8D555496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관리자 예약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D193F-8ECC-4406-9F52-A4175650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24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17352341e4371"/>
          <a:stretch xmlns:a="http://schemas.openxmlformats.org/drawingml/2006/main"/>
        </p:blipFill>
        <p:spPr>
          <a:xfrm xmlns:a="http://schemas.openxmlformats.org/drawingml/2006/main">
            <a:off x="1156047" y="2152650"/>
            <a:ext cx="4126805" cy="314325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0B62B-0C20-45E3-9966-04832BD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관리자 예약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F280B-3294-4160-AC88-2F8B4B9B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5143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91298-B833-48DA-A633-282B8D48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47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05E5A-839A-47FB-B913-2BC17BE1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573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내 예약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37036-F601-4D0E-9FF9-4B2F8291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4724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8c11c132c4fd1"/>
          <a:stretch xmlns:a="http://schemas.openxmlformats.org/drawingml/2006/main"/>
        </p:blipFill>
        <p:spPr>
          <a:xfrm xmlns:a="http://schemas.openxmlformats.org/drawingml/2006/main">
            <a:off x="6536468" y="2152650"/>
            <a:ext cx="4186364" cy="314325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62D3D-DE98-4AC4-A520-32F35598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626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내 예약</a:t>
            </a:r>
          </a:p>
        </p:txBody>
      </p:sp>
    </p:spTree>
    <p:extLst>
      <p:ext uri="{BB962C8B-B14F-4D97-AF65-F5344CB8AC3E}">
        <p14:creationId xmlns:p14="http://schemas.microsoft.com/office/powerpoint/2010/main" val="1600511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73D85-331D-407F-8E5E-29F05069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4C508-0B3F-41F2-98CF-F17D6987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V4 FLUTTER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C927B-2298-47B8-982D-4DE04C12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V4 화면과 모바일 적용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FEBC8-B16B-46BD-A9BB-84F300E1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웹·앱에서 같은 시술·예약 API를 사용하고, Android APK로 실행할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29244-0E1F-4BD6-8B1A-628B8F61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54D7C-DF43-4E01-808E-D2901DE9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E8110-1B9F-46F5-AF2B-B67D0732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21BA3-36A2-4B53-8E82-14FFD590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857750" cy="357187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E2285-3FB6-4172-BBCB-18DA939E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6738D-6D70-41A2-A4F9-CB13757F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고객 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EBE0E-BAF0-4238-9C9F-5AAA49D0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4386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시술 이미지와 가격·시간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날짜와 서버 제공 가능 시간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내 예약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57ACE-9EE8-46C6-B875-3C152506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4857750" cy="357187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4CE45-D48D-4E97-87FC-61AF70C9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47625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1DB5F-6522-44A7-8416-D43AF59D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71675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관리자 화면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1D7AB-7A78-4286-9344-29865809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44386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전체 예약 현황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상태 변경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기반 예상 매출 집계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직원 관리·배정·근무표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314B9-0BD5-46C0-918B-BEB2386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화면 캡처는 검증된 배포본에서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19303268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5F3107-B0A9-4C3C-847F-68BB2BF3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1446B-8CC6-4DB3-8A82-7AD4397A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REST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27EB9-830F-4D9F-B367-F3517991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백엔드 API 명세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B7E6D-A174-4EE2-9842-F428870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V4는 기존 API 계약을 사용합니다. 관리자 경로는 인증과 권한이 필요합니다.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A786E-9F5F-423C-8F8C-FE4E0902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5CED7-9A4A-4982-9879-1219F0B0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F2C28-D017-4CAD-A03F-1495557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CC4F3-0501-4723-AFAB-9DF529D5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6680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FE8E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BFC6D-8F50-46D3-BFEE-002B5A8D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메뉴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5FB73-EAD5-4AE4-89AF-319A7292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288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69F91-DAE4-4F9A-9EA3-81E3B497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28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/api/service-items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52F30-C663-4A66-B9D4-9FBD5E3A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시술 목록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822BA-0253-4B5D-95F7-5F5E01F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6680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A9B87-4669-4D6F-B660-B5540009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가능 시간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CEB08-C492-4475-83C2-D8A02FFC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765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92B0A-BF62-400E-9CD8-BE1B61CE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/api/reservations/available-times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A759D-68B4-449C-AFB1-EF923BF8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날짜·시술 기준 조회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BA279-51B3-4D87-9A4F-A452B942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6680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FE8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CC2EC-79B0-41EA-9ACB-B1C00E98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예약 생성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BAC91-8487-4819-B1AA-8D9825A4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242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POST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8577E-A5E8-4DFC-BCED-E7C47855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24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/api/reservations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6E575-EB8F-4073-A51C-A59E1ADD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고객 예약 등록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3F928-468A-4BF1-AF13-888E9C21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6680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D82D86-1F06-4E28-9C75-10CB2A44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내 예약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4E9AE-5F2B-4B2C-8B6D-87F222FD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719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384146-719C-40F9-97E0-81F9072C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71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/api/reservations/my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840300-636B-4CC1-9340-C5EB327C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본인 예약 조회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635711-5EC3-4ECD-9C97-81044B90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6680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FE8E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1D18DE-6B31-4F4C-A7BB-984F28A7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관리자 예약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6473B5-40A1-49C3-8E22-2C1118DF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19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5D7324-68B3-469F-9373-71CC18E5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19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/api/admin/reservations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871276-9154-44C7-B854-10C38C1B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관리자 전용 현황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C2C6C2-B2F8-49A8-BE48-24D8EC63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6680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61679B-7722-4C7C-BDE5-0E344214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상태 변경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E5E886-EC16-4098-8304-D1BA5726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673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PATCH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55CA92-CF33-4EDA-BAEA-FF86B2EF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67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/api/admin/reservations/{id}/status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834664-2857-4F1E-8B8B-AB893DA1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관리자 전용 처리</a:t>
            </a:r>
          </a:p>
        </p:txBody>
      </p:sp>
    </p:spTree>
    <p:extLst>
      <p:ext uri="{BB962C8B-B14F-4D97-AF65-F5344CB8AC3E}">
        <p14:creationId xmlns:p14="http://schemas.microsoft.com/office/powerpoint/2010/main" val="15906805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B88C9-8853-4E7D-8354-543B61E9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56964-17C6-4A24-91A6-F7595857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MVC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83DB4-03C0-4675-B0FF-3745039E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클래스와 계층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FB8F8-46D4-4360-89F9-E792098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요청 진입, 업무 규칙, SQL 접근을 분리해 변경 위치를 찾기 쉽게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DAAD2-D331-458D-BB8D-41E3456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2AA0D-24A4-4F51-B076-AAF6CCFB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ED0AB-7E8E-4A8F-B50B-22614A14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9AD92-0397-4D1C-98A8-D2512D05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40030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6D027-5FEB-4305-8EF0-2D4FDA2E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7A02F-677E-4522-A26E-DD418EB1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764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76857-AE1A-46D6-BD00-40253787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9812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HTTP 요청·응답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인증 사용자 전달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EE18F-C5A8-4620-8ABC-2D53CCC0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14550"/>
            <a:ext cx="240030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65761-8DD3-4010-9ACC-ED390BB4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14550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11951-158A-43D5-A31A-7BE1A40F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764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6AB40-42F1-497F-9F88-18433620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9812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가능 여부·상태 규칙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트랜잭션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3FC1E-8561-422F-934E-240AF6CE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240030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23112-F1A8-4ED1-87A9-5F9FB704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F1108-4DF1-49FA-92EB-14EA1AA5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764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Mapper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9BCA9-2110-49F8-B440-1B2B9CD1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19812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MyBatis 인터페이스·XML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DB 쿼리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3513A-7D2B-4141-B28E-7A7145E2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2400300" cy="2238375"/>
          </a:xfrm>
          <a:prstGeom xmlns:a="http://schemas.openxmlformats.org/drawingml/2006/main" prst="roundRect">
            <a:avLst>
              <a:gd name="adj" fmla="val 7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0A597-FD09-4266-86D3-5CDF46F2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D9AC4-5CF0-4A67-9692-786F2062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764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DTO / Entity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25392-C09D-4F26-B109-E7D12F30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47950"/>
            <a:ext cx="19812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API 데이터·영속 모델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계층 간 전달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85443-31B5-4045-B127-3A7D0288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V4 Flutter: 화면(Presentation) → Provider/Repository → Dio API 호출</a:t>
            </a:r>
          </a:p>
        </p:txBody>
      </p:sp>
    </p:spTree>
    <p:extLst>
      <p:ext uri="{BB962C8B-B14F-4D97-AF65-F5344CB8AC3E}">
        <p14:creationId xmlns:p14="http://schemas.microsoft.com/office/powerpoint/2010/main" val="1009306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3DBEEF-4FBE-4C2A-A2D2-4F77BA52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81091-987F-4071-B4F1-F604EAEC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0211-39CD-4425-9B9F-ECE381C4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DB 설계 핵심 관계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B6152-95C0-4BCF-8D73-DCFE964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예약은 고객·시술과 연결되고, 예약 슬롯 잠금으로 동시간 중복을 방지합니다.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7629A-32F3-4CC1-A513-CC203462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D9F5B-A56B-473E-96AE-9E93CA9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4460A-B872-495F-A99E-371B334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72A7C-B126-448E-A54F-5CA7CA5F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400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395B2-933B-4E3A-ABAA-53633B11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203C8-1B47-4636-8BA5-E33FDB4D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3BE93-0B32-4F0F-9049-B5E58E92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981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회원·권한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PK: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6E60C-BC89-4509-9658-473301CB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400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196BC-242F-42C5-B2AD-C80B2387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8673A-85C7-4AED-AF92-B33B95FB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28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service_items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0C1B3-A68B-4221-AD1C-3A3538CD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1981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시술·가격·시간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PK: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0FCE7-AA91-459F-AA19-3E9ECCE5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400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99D01-0809-42A7-B6AF-BC0C3E7E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60812-D7FD-48B8-A786-C8FCF6D8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reservations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6D0CA-036E-4E52-9C29-C76DBAC3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1981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예약·상태·일정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PK: user_id · service_item_id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E8A87-3CAF-4A77-915D-B60DD2B7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400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6654D-0404-4D7F-B483-BF0EDF63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5A9B82-1CFC-4BBF-B393-DD1681CF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2887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reservation_slot_lock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207A9-5F44-45A0-95B8-8AF4A162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0350"/>
            <a:ext cx="1981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시간대 동시성 잠금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PK: 예약일 · 슬롯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1DB11-2DB8-44E4-AA41-3A5459DC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※ 실제 스키마와 제약조건은 MarinboySalon_v3/database 및 서버 Mapper를 기준으로 합니다.</a:t>
            </a:r>
          </a:p>
        </p:txBody>
      </p:sp>
    </p:spTree>
    <p:extLst>
      <p:ext uri="{BB962C8B-B14F-4D97-AF65-F5344CB8AC3E}">
        <p14:creationId xmlns:p14="http://schemas.microsoft.com/office/powerpoint/2010/main" val="12472492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3C3FD-8B3A-4379-BAFB-F10389A8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AD2C8-DDBB-4CF5-83AE-030AF151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F80CD-BCC5-4D1E-8FE9-BF8FA916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예약 처리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0B73B-F4BD-40BB-8917-CF59C469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가능 시간은 서버에서 다시 확인해 화면 선택과 DB 상태 차이를 줄입니다.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2982F-8E49-43A9-B254-899685C3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AF522-3ED9-462C-A705-230A9E51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FEF04-A6F9-4B44-B8DD-08DA4D7C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EB962-23FF-4C58-8D2B-F3EBDAA2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9526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A572E-5E80-44EB-AF53-8D3F7E68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7F530-6E8B-4863-AEBF-34124E1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1533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9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1  시술·날짜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4BFC2-5EE7-455C-967A-2BCCFAF8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5335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V3 REST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BE6F5-D1BC-4D94-9627-4090D41B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384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713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73E36-56B3-4FC0-AE5A-5BD122A0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38400"/>
            <a:ext cx="19526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CCAA4-509F-4F9F-B85E-3173740F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384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351AE-06F8-4407-B81B-9A9E1383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00325"/>
            <a:ext cx="1533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9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2  가능 시간 조회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46F52-8D1A-4CDA-AA77-7D0247B0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71800"/>
            <a:ext cx="15335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V3 REST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C8569-ACD5-4D58-8D32-BD918BDE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384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713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4D825-5F6A-4038-B6E7-DF7C3522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38400"/>
            <a:ext cx="19526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5858C-03C0-4A88-8A8B-93309564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384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89406-9920-4863-A61B-4119FAF9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0325"/>
            <a:ext cx="1533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7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3  로그인·요청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90820-F706-4D44-A08F-E636FD43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15335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V3 REST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08524-0D6A-4A63-BD8B-E89433B3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384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713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2B9B5-2E1E-463C-8464-6B83C26C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38400"/>
            <a:ext cx="19526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B40B8-E3A1-4FEC-B359-5427CD94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384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5B586-F44F-435E-9DFB-56B2A48B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00325"/>
            <a:ext cx="1533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9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4  중복 확인·저장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94ABBE-DD5E-417F-BEFF-1B849D00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15335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DB 트랜잭션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슬롯·중복 검사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9AFBCB-9F7C-4EA0-A745-10B9E850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384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713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C95B4D-978C-4390-B3A5-3635A6A4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19526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23900-A082-4FC4-B649-E04BDED8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4CDC0F-59FC-4B2E-9323-87AD3FCE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0325"/>
            <a:ext cx="1533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2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5  캘린더 후처리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0E677-82C0-4D42-92DE-0C7B2024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5335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커밋 후 일정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이벤트 생성</a:t>
            </a:r>
          </a:p>
        </p:txBody>
      </p:sp>
    </p:spTree>
    <p:extLst>
      <p:ext uri="{BB962C8B-B14F-4D97-AF65-F5344CB8AC3E}">
        <p14:creationId xmlns:p14="http://schemas.microsoft.com/office/powerpoint/2010/main" val="15672208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BB2C4-E709-44E9-A308-1F5E7D43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D378B-1752-44D8-91E9-6CB3535A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RESERVATION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15BEF-DF4A-41F6-9331-ED44C216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예약 가능 시간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797D0-9E2A-4FA3-BC9D-5EBD9764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화면에서 임의 시간을 만들지 않고 서버가 계산한 슬롯을 보여줍니다.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4D027-5E42-4431-BBED-883C4890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BE4DC-F5D9-44EE-925E-153DA515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AAF25-9E05-475A-9D36-4180F7FB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EC70C-B3E9-456D-8AC3-ED2B3199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477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50169-4FCE-4FFA-86B2-E8545DFE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3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0D092-A644-463C-8FEE-A85CF5E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605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처리 핵심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682D6-A836-4F99-AF7F-D9AF782A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6057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GET /api/reservations/available-times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  ?date=YYYY-MM-DD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  &amp;serviceId={id}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E72EC-C8E4-4111-B83B-D15DA024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F65F9-1607-4BAE-B68B-681101F4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DD855-033D-4E8C-9A37-DEB9AA82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716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확인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A3A34-2922-44AE-97FB-917F7288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295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휴무·기존 예약 반영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불가 시간은 선택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53FC1-40A6-4AE3-AD60-795A51F1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요청·검증·결과가 각 계층에 분리되어 변경과 테스트가 쉽습니다.</a:t>
            </a:r>
          </a:p>
        </p:txBody>
      </p:sp>
    </p:spTree>
    <p:extLst>
      <p:ext uri="{BB962C8B-B14F-4D97-AF65-F5344CB8AC3E}">
        <p14:creationId xmlns:p14="http://schemas.microsoft.com/office/powerpoint/2010/main" val="3657533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C7DD3-2CCF-4E83-B649-0842AF3D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E2246-137D-4314-9F08-102D09A5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RESERVATION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13F9B-64A8-46A8-8E02-352F7B27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예약 생성과 중복 방지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63B1E-9FA0-41C1-83DB-52148A72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최종 저장 직전 서버와 DB가 한 번 더 예약 상태를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39EC0-E590-49CE-9F72-263E2F0E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168B3-5EFD-4CAD-B869-2DA6D5F1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D60D8-EB74-4B32-8B4D-6F1C7A33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916D1-1FC3-48C1-8D7E-3F7CE5D2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477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85DEC-C7C1-4B21-B864-17D80CB6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3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03915-08DB-43CC-AFC5-987790E6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605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처리 핵심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CB061-849D-451C-8EFF-B0021D2C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6057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요청 → 사용자·시술 검증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→ 슬롯 잠금 → 겹침 조회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→ 예약 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AFC7A-5295-4E8D-B1E3-36960301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F236F-7D96-4423-B119-9CE5F00A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CEC0F-746B-49AB-B2B7-AFADDF2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716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확인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5B190-9F48-4649-B7B1-2FF9E54A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295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동시간 요청 경쟁을 제한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중복 예약 오류를 사용자에게 안내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8E480-79FA-4C98-9985-EBB38284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요청·검증·결과가 각 계층에 분리되어 변경과 테스트가 쉽습니다.</a:t>
            </a:r>
          </a:p>
        </p:txBody>
      </p:sp>
    </p:spTree>
    <p:extLst>
      <p:ext uri="{BB962C8B-B14F-4D97-AF65-F5344CB8AC3E}">
        <p14:creationId xmlns:p14="http://schemas.microsoft.com/office/powerpoint/2010/main" val="18662781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6ED11-6E2D-4C41-890B-D9666C01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B90D4-B9B0-43C9-ADA5-4B77A085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RESERVATION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C3063-24F9-43BE-AECF-ED521529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예약 운영과 매출 집계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2942C-FDCC-4CFF-97CE-7F5A76D7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관리자는 예약 상태를 변경하고 예약 데이터에 따른 예상 매출을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856F9-D912-4190-9E7E-F6CA5E37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E4CAD-9431-4C29-A6AC-58C7B0D4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62C2E-BDFA-461B-8D8F-BA3CF44B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45C2F-1FF5-44D0-BDF2-38B31082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477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69C7F-1A33-42C8-ACF0-4A35C5E9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3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544BC-9144-4769-8318-6C47B1BD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605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처리 핵심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4BEAC-7D1D-41CD-A34C-E9021874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6057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상태별 예약 집계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예상 매출 = 집계 대상 예약 금액 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50965-5D0B-4A93-BA5E-78BF18F6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71BD3-B0C2-4EE1-B781-47702922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411D4-E2AA-4894-8F48-DA981632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716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확인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59B20-B93D-4103-AAC8-386C6043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295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취소 예약은 집계에서 제외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실결제 매출과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30B2C-830B-49A8-A065-277EA053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요청·검증·결과가 각 계층에 분리되어 변경과 테스트가 쉽습니다.</a:t>
            </a:r>
          </a:p>
        </p:txBody>
      </p:sp>
    </p:spTree>
    <p:extLst>
      <p:ext uri="{BB962C8B-B14F-4D97-AF65-F5344CB8AC3E}">
        <p14:creationId xmlns:p14="http://schemas.microsoft.com/office/powerpoint/2010/main" val="20323950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32C08-F8B3-4A2F-85A1-F04795E7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E5B8C-39E9-4017-9980-6489DD9E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AUTHENTICATION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1A828-FFE3-4F79-9C31-9366B5CD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소셜 로그인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8A5D4-933D-4827-8BDD-CE5DFB66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OAuth 제공자 인증은 V3 서버가 맡고 모바일은 일회용 코드를 교환합니다.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07DD6-ED83-4B52-9074-31244FE7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7694C-E247-4B8C-B672-6CB843B8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CF797-B199-4152-8640-15ABEC87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EB18B-0C2C-403B-88E3-C40F22FD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477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E625D-8098-4A5A-BE53-D788C59F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3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EC54C-80AC-4BA7-9F9D-6BEBBBE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605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처리 핵심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0EED1-0C4D-4A19-ADBB-F947F72D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6057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앱 → V3 OAuth 시작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→ 제공자 로그인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→ 앱 딥링크에 code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→ 서버 토큰 교환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10CB1-2913-46B9-BE9F-96AA5A8C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006C7-EE55-40D2-AC06-58F29C09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7BB90-EE3D-494A-A7CB-E6B7553E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716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확인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243A5-FA2E-48C5-87FE-0B7379B3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295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액세스 토큰을 URL로 직접 전달하지 않음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공급자 콜백 설정 필요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0ED74-2493-4EA2-9BCA-385ACC9A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요청·검증·결과가 각 계층에 분리되어 변경과 테스트가 쉽습니다.</a:t>
            </a:r>
          </a:p>
        </p:txBody>
      </p:sp>
    </p:spTree>
    <p:extLst>
      <p:ext uri="{BB962C8B-B14F-4D97-AF65-F5344CB8AC3E}">
        <p14:creationId xmlns:p14="http://schemas.microsoft.com/office/powerpoint/2010/main" val="481969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0D5E8-868C-4377-85B0-E972B154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BCFA3-4F30-4705-9BC3-BAD1FC07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AUTHENTICATION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1559B-906E-4744-AF52-6BC96D42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권한에 따른 기능 제한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B00A3-CEBE-41BE-9FA1-F9ACBBF7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고객 토큰과 관리자 권한을 확인해 예약 운영 API를 보호합니다.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C486F-4FE9-4760-A4E9-07F22190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05BEC-37B7-492A-9842-778CFB28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59040-F3AF-4D85-B7DA-83A9FE57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DCCD2-AC29-4A15-B27B-015D3C8E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477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6F680-0AF4-47CE-BDD2-C24BB855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3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C5142-4E3B-476D-B76F-C5C12EC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605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처리 핵심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6DBB6-8304-4481-A68B-637608A9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6057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Bearer token → 서버 인증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관리자 API → ROLE_ADMIN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4D79A-8B8E-4C2F-ADD4-8B5B755E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BEA68-EAAC-4813-91EC-3B59B06C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29B4B-6E7A-4782-B703-0FC91790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716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확인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5510D-A2D2-4FC9-8E29-CFCAE1E2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295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미인증 관리자 요청은 거부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사용자 역할은 공통 서버에서 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7BE8F-6A85-4232-8032-3EBA0E44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요청·검증·결과가 각 계층에 분리되어 변경과 테스트가 쉽습니다.</a:t>
            </a:r>
          </a:p>
        </p:txBody>
      </p:sp>
    </p:spTree>
    <p:extLst>
      <p:ext uri="{BB962C8B-B14F-4D97-AF65-F5344CB8AC3E}">
        <p14:creationId xmlns:p14="http://schemas.microsoft.com/office/powerpoint/2010/main" val="20710617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C981C-D053-47D2-A0F6-AA3131B4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1EE9F-E9D6-4247-9B6C-99C91C3D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CALENDAR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F6254-6552-45C8-B20A-3E002C0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Google Calendar 동기화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327DE-0230-42C6-9350-435DAF4D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DB 커밋이 끝난 뒤 외부 캘린더 작업을 비동기로 수행합니다.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71224-E096-4622-8D44-C488EC91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BCDDC-A956-4A66-A990-3010A11A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E9DFB-17C4-4EDB-ABA4-60AAED68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EF8AF-C69B-4D7B-94E6-5E87633B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477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FEC12-E902-4676-A36F-4C56EA60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3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C3E29-34FF-416C-95EF-5B68D4E7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605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처리 핵심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B38B1-576D-4C5E-9BCC-1810FF9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6057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AFTER_COMMIT 이벤트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→ Calendar API 생성·삭제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→ calendar_event_id 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18CA0-B21A-4C81-903F-9F0B2609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113D9-7614-43E1-ACB2-BEAE88ED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C899E-0C1D-4479-AD93-3E5F28FF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716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확인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AD11D-6B42-4E8A-B25E-FF9B16E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295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캘린더 장애가 DB 예약을 되돌리지 않음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운영 키·권한 필요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28C6-E6B9-42C7-8EA1-6B14D128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요청·검증·결과가 각 계층에 분리되어 변경과 테스트가 쉽습니다.</a:t>
            </a:r>
          </a:p>
        </p:txBody>
      </p:sp>
    </p:spTree>
    <p:extLst>
      <p:ext uri="{BB962C8B-B14F-4D97-AF65-F5344CB8AC3E}">
        <p14:creationId xmlns:p14="http://schemas.microsoft.com/office/powerpoint/2010/main" val="5334402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AAF0F-4158-4464-B820-5F977A9B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185AD-FE72-428D-91CD-85DD6AD0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FLUTTER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CB65F-3DD5-4745-902D-8B8F215A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Flutter 이미지 URL과 표시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31AF7-1FD8-4715-B46B-24A10E09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상대 URL을 API 도메인 기준으로 바꾸고 카드 안에서 이미지 전체를 보여줍니다.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DA5E0-9A90-47A9-86EC-70280388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5E4A5-2F23-4D2B-8B60-35DD47EC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983DA-6BDD-404F-9AC6-D1C99D93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34171-00AE-4016-A8EB-D8D815FE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477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89030-62D5-4CCE-8BCF-E0F61868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3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9F4FC-04DE-4E49-A001-ED3B7192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605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처리 핵심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D119C-4E53-4677-8C70-5F585409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6057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Uri.parse(baseUrl).resolve(path)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Image.network(fit: BoxFit.contain)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B2D8D-0FDE-4936-892C-69ADF23B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F24E1-002A-44D0-8E00-46D731FE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4685F-38DC-4AEC-887B-57B41C24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716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확인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8A515-588B-49EF-B3BF-D463D4EF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295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웹·Android 경로 차이 대응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화면 공간을 줄이고 사진은 자르지 않음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D5E26-C0B1-4DE7-BD21-34BE5429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요청·검증·결과가 각 계층에 분리되어 변경과 테스트가 쉽습니다.</a:t>
            </a:r>
          </a:p>
        </p:txBody>
      </p:sp>
    </p:spTree>
    <p:extLst>
      <p:ext uri="{BB962C8B-B14F-4D97-AF65-F5344CB8AC3E}">
        <p14:creationId xmlns:p14="http://schemas.microsoft.com/office/powerpoint/2010/main" val="15884545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C38D9-08ED-41B1-BBB3-A3928EF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0CBD9-A1FE-4B7F-A0D8-38F3D0DA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FLUTTER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D3336-5677-4F64-9E27-61F146B3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V4 예약 슬롯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E87FE-FD09-4EC3-ACD0-5F265061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시술과 날짜가 바뀔 때 가능 시간 데이터를 다시 요청합니다.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9FE57-0756-45BE-9E4F-C54E72A3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C18A2-FBB1-411C-9436-AA54900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7D542-42D8-4F2B-B4F3-BE21D5C5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E9F26-F762-40F1-85B8-B6DC5403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4770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88411-A3D0-4891-9465-6734D5D4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3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07746-31B4-4B73-BDD4-093809A0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605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처리 핵심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73508-A74B-4364-93FE-EB2C0C9E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6057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serviceId + date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→ availableTimesProvider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→ 시간 선택 → 예약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6D0FC-1B7A-48FC-9A75-F1F0F9A4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AEE30-AF3B-4875-AB72-9DF44D81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C6416-B99A-4D52-B57D-0873A515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716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확인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ED843-1CAA-49C6-A6B0-11F839AF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295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후 슬롯·내 예약 캐시 갱신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최신 상태로 다시 조회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0B56D-F5D1-46E6-9BDC-95170C3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요청·검증·결과가 각 계층에 분리되어 변경과 테스트가 쉽습니다.</a:t>
            </a:r>
          </a:p>
        </p:txBody>
      </p:sp>
    </p:spTree>
    <p:extLst>
      <p:ext uri="{BB962C8B-B14F-4D97-AF65-F5344CB8AC3E}">
        <p14:creationId xmlns:p14="http://schemas.microsoft.com/office/powerpoint/2010/main" val="16192712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D4CCBA-BF86-47B2-A686-325215AA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B7ADB-C9B1-4539-BAF3-6A868A47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656C7-E35C-449D-86E1-8880C12F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검증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87B44-BE58-4B78-9538-654A5C91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로컬 전체 빌드와 GitHub Actions 배포 결과를 각각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DD5D4-DB97-424E-9B0B-5A45290C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B6237-8E45-4ABE-B018-AE07A654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CE477-1AD4-4B85-8B8A-B267D68D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767EC-B6BE-4D77-B691-BDEF43CA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428875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47217-32BE-4EFC-B801-89817E79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35068-424D-4411-B5A0-64206DD1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V3 백엔드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E26BF-0790-483B-8E1A-452E1998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009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18 suites · 31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Gradle test + bootJar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5345B-86BF-4FD7-B028-F830D4F7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2428875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7A048-60AF-44FB-9084-F49EC9A4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0A24B-D392-44F2-AA3F-18964A6C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71725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V3 프런트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45EC9-DB95-4398-95E6-2198ECEA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43200"/>
            <a:ext cx="2009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8 suites · 20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Jest + Next.js 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2304C-268C-48CD-B152-9A2D1BC5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09800"/>
            <a:ext cx="2428875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4617E-2C81-4BFF-86F2-DECE90BD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098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DAB8E-499F-494A-82A8-3F66246A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V4 Flutter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34CD6-DAEF-444D-95E6-17F0D086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2009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6 tests · analyze 통과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Web + Android APK 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54B34-20D1-4C0B-A6A6-41244CF3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09800"/>
            <a:ext cx="2428875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C087F2-EBAC-4060-B9FA-49CD0E8C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098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23166E-CA15-4587-A13E-B7F43871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71725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운영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08767-C6DE-4E0D-A3FF-CC215024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43200"/>
            <a:ext cx="20097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웹 · V4 · health 응답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DB 연동 API 읽기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63827-C420-48A6-8094-8F9C0ADE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운영 DB에 직접 쓰기/변경 쿼리는 실행하지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21270122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FFAFC-5419-4115-B6C2-DBB902E5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3463F-118A-4B0E-BFC0-AC8EF970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3A7FB-906F-4F07-95A0-EB66D734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배포와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56801-8B94-4589-8F9F-D4A978F3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GitHub Actions가 테스트·빌드 후 AWS EC2 서비스 경로를 갱신합니다.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40C33-E4D6-43B3-8CCD-D40BF40F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64ED0-AB3A-4592-BCDE-B8F64340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3D444-31FC-48A1-97A5-45D9B64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B7F6D-0B66-4916-83A5-7C4FCF45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3431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2644A-277F-42E5-A35D-F16683C9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72388-4E56-4A32-A90A-B657D9E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Commit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AFDCE-AB4C-4D0D-98DE-A7F5E645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924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코드 변경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19A3A-6E77-4848-A430-A5562FC1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99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94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4F828-92A8-47B0-8833-5EB46049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23431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E7F0B-5EAD-4200-9FB9-0F56DBB3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75A0C-4EFE-43FA-8977-6492E7F0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241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DBB7C-3630-4200-AEBA-5B762F33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1924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검증·빌드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7FF4E-CBF1-4CF3-B341-1117AFD7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099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94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5568A-60F5-4D63-80B0-75F3D274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23431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28544-69AB-4456-BD58-7BF499DC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48548-DA7E-4877-8C03-F0B0DE3A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241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EC2 / Nginx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4B685-3B40-42E8-8DF1-3D47C0F8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1924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V3 · V4 ·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E7823-E2D2-4F0D-8D52-EB43FA90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99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94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D60B7-F824-4790-81A5-BEA418A6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23431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44C324-D4BD-43FA-8DCF-B19FA995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D3281-8905-4E67-BADE-4FE86AEE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241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브라우저·앱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7B3C6-A571-456C-8591-6F5CE85D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95600"/>
            <a:ext cx="1924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웹·모바일 이용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155A9-ABA1-41F3-98FB-078D7C46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APK는 CI 산출물이며 제출자료 폴더에서 별도로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832151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4E8EB-92DE-4E97-B6AB-AF9C2C49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A1C4B-56F5-41B6-BD6B-02834F35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76E4A"/>
                </a:solidFill>
                <a:latin typeface="Malgun Gothic"/>
                <a:ea typeface="Malgun Gothic"/>
                <a:cs typeface="Malgun Gothic"/>
              </a:rPr>
              <a:t>RETROSPECTIVE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46CCD-41AF-45B4-BB6A-44149BCB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211E"/>
                </a:solidFill>
                <a:latin typeface="Malgun Gothic"/>
                <a:ea typeface="Malgun Gothic"/>
                <a:cs typeface="Malgun Gothic"/>
              </a:rPr>
              <a:t>프로젝트 회고 · KPT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85AAE-196E-4894-9456-EDB152D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현재 강점을 유지하고 검증된 병목부터 개선합니다.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A843D-5894-4F78-89D2-794485D7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31827-1D78-460C-A154-55A5E43A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MARINBOY SALON  ·  V3 WEB + V4 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ABF2C-1455-4EB8-A1A3-3A07ECEB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45C22-BF78-421D-AAFD-5DF3AA70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3714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2A454-E4D4-4C27-B4A1-3D193409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7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A6959-0750-4A21-BF67-CBF62412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KEEP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4940C-483F-41C2-8746-F76D2C02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9146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공통 API·DB 재사용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예약 중복 서버 검증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CI에서 웹·앱 함께 빌드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A992C-8B33-4707-9C78-D18AC4E9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333750" cy="3714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B4812-D09C-493A-96C6-43988A4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5C8A6-5DE4-48C8-A972-1E7962D9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7167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PROBLEM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D925B-0607-4E61-B74C-D11F45E0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29146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운영 OAuth·Calendar는 외부 키와 콜백 정책에 의존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실기기별 이미지·딥링크 확인 범위 확대 필요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16F69-16F2-4B0E-BA86-B0878674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333750" cy="3714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CBF40-D7FB-4401-B045-2377599C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4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32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A6664-BB03-47BC-AC98-7FDBB8FB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7167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9332D"/>
                </a:solidFill>
                <a:latin typeface="Malgun Gothic"/>
                <a:ea typeface="Malgun Gothic"/>
                <a:cs typeface="Malgun Gothic"/>
              </a:rPr>
              <a:t>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26185-2495-4D36-91F2-E6680A59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29146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기기별 예약 E2E 테스트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캘린더 실패 재시도 모니터링</a:t>
            </a:r>
          </a:p>
          <a:p xmlns:a="http://schemas.openxmlformats.org/drawingml/2006/main">
            <a:pPr>
              <a:def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66A65"/>
                </a:solidFill>
                <a:latin typeface="Malgun Gothic"/>
                <a:ea typeface="Malgun Gothic"/>
                <a:cs typeface="Malgun Gothic"/>
              </a:rPr>
              <a:t>성능·접근성 자동 점검 추가</a:t>
            </a:r>
          </a:p>
        </p:txBody>
      </p:sp>
    </p:spTree>
    <p:extLst>
      <p:ext uri="{BB962C8B-B14F-4D97-AF65-F5344CB8AC3E}">
        <p14:creationId xmlns:p14="http://schemas.microsoft.com/office/powerpoint/2010/main" val="8483050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4933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935AE-E1FD-40EF-9664-D91E9266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ADA39-48E6-4A62-B88E-5FEBDB80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7B39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7B39F"/>
                </a:solidFill>
                <a:latin typeface="Malgun Gothic"/>
                <a:ea typeface="Malgun Gothic"/>
                <a:cs typeface="Malgun Gothic"/>
              </a:rPr>
              <a:t>MARINBOY SALON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69BA5-A0E8-4FD0-8476-2B5EDEB4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하나의 예약 데이터,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웹과 모바일의 두 접점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B8CAF-9D78-4D25-9A4D-482D844D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3D6C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E3D6CF"/>
                </a:solidFill>
                <a:latin typeface="Malgun Gothic"/>
                <a:ea typeface="Malgun Gothic"/>
                <a:cs typeface="Malgun Gothic"/>
              </a:rPr>
              <a:t>V3 웹 운영을 유지하면서 V4 Flutter 앱으로 고객 예약과 관리자 운영을 확장했습니다.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A8F8D-6F52-4C2D-BFB6-0CEC6AE4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972269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2026-09-29T08:52:55.3400000Z</dcterms:created>
  <dcterms:modified xsi:type="dcterms:W3CDTF">2026-09-29T08:52:55.3400000Z</dcterms:modified>
</coreProperties>
</file>